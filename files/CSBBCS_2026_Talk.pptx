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7" r:id="rId2"/>
    <p:sldId id="260" r:id="rId3"/>
    <p:sldId id="365" r:id="rId4"/>
    <p:sldId id="389" r:id="rId5"/>
    <p:sldId id="285" r:id="rId6"/>
    <p:sldId id="391" r:id="rId7"/>
    <p:sldId id="392" r:id="rId8"/>
    <p:sldId id="264" r:id="rId9"/>
    <p:sldId id="276" r:id="rId10"/>
    <p:sldId id="406" r:id="rId11"/>
    <p:sldId id="266" r:id="rId12"/>
    <p:sldId id="267" r:id="rId13"/>
    <p:sldId id="271" r:id="rId14"/>
    <p:sldId id="278" r:id="rId15"/>
    <p:sldId id="408" r:id="rId16"/>
    <p:sldId id="273" r:id="rId17"/>
    <p:sldId id="280" r:id="rId18"/>
    <p:sldId id="279" r:id="rId19"/>
    <p:sldId id="409" r:id="rId20"/>
    <p:sldId id="282" r:id="rId21"/>
    <p:sldId id="410" r:id="rId22"/>
    <p:sldId id="40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BE1E9-44B7-4C42-A961-BED70631BBF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1764-F8A4-0849-AB77-88E2D0ABE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1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57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B4DF-A71B-9E7C-EE44-B47D3679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DF44A-260E-DFE9-1533-9C0905CD6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99DEC-5F67-69C5-98E7-2D8BB6303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AC6D3-0F5F-94B2-34DB-924229C04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814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09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87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84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91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38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4252-E157-BC61-A3B6-DE724F10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D741E-5F9F-5CC2-8B23-4BC112CFF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C5696-44EC-05C7-A8D0-7A7C0C11E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02726-939E-E4A3-7648-D40579B43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38F9A-D35C-8C45-90F1-7C1D51F5C41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74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1764-F8A4-0849-AB77-88E2D0ABEF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92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5317-F7B7-6419-2969-C3111BD41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56607-1914-37EF-6B48-A020AAFD3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B3A8B-BCA8-C55B-0497-997A433F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EA539-F02B-5B06-0DAE-CD865BF6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E22C-687F-9C46-DD39-41CCAC35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8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30D49-C4BC-00EA-88BA-9E220E72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42E93-00A7-025E-FF50-86AFE74A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8811-5D67-D493-9DA0-4991F0A1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8EF8-BD0A-F8A7-4658-0D7717B9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A387A-0D3E-5498-4C6D-F3CD19CA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0030-FD53-9098-7A2B-AADBCF21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62C43-FB33-357F-AD39-6276A073F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5B67-0EA2-83E3-86B8-5EE9B232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B5C77-D95E-5D0B-252C-C31F1C1C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3E4F7-58BA-3879-DE5D-F2E49F7C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1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9E9A-9AEA-B0FD-AAE5-4BF346C3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4AF8-1F21-A73D-08FE-7DE5B43A2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6D4E7-AAF6-7A1C-2CA7-669A42648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4EE5C-F0F2-5306-CB07-91565D8A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84620-C7AD-D7A5-4277-D801E24D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7B234-68AB-E808-4004-AB456FF4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7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B879-6163-1375-0663-14189569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F00B-1E1E-C352-F47D-9CFC0F85A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9CAC6-6C43-61D8-90BA-6E000F513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68341-CAA1-4A84-ACC4-0057F6861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6A60B-A198-E45C-695B-DF0E56EFA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E0F02-200A-8D62-12FF-2E081B84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BB53A-501D-8644-8533-09BE6359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9E6E5-0180-6ACF-85EF-DD41F59D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8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A7E0-F151-442E-47AC-6E018B96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7388F-611C-B9FC-3F38-321B8578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85356-55C0-52DE-18FC-CBEEB1B4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99B43-F03B-B5D4-F84A-9DA9207C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8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09F5D-FBF1-E1C0-2493-DCA3A60A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693CA-913B-1ACE-CCBB-CA490BFC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6518A-6123-4C6D-5434-B1C5929A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7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16B2-939C-A68F-B94C-2CAB3729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02AA-FBB5-40C2-F75B-FAB189A61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9926B-9BF0-B7DF-7AA0-3553DFE57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CA362-D800-3656-5BF6-8DBDD0A3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A53BA-47F6-A8E3-DD07-16224274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B60C-F621-2A0C-165E-E576B2D3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6BB0-91E7-5F34-70F1-42C9D594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65184F-712F-BF1D-FB2B-D6C8F8856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3175B-6514-2610-F999-89986D6C1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DFD57-198E-0603-54FC-E5F75F41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3C140-37DB-A994-CDDF-0FF4CD02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CE508-0D23-B88A-AE28-8332768D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2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0B5A-4F6A-C72C-19FC-9DDDCCD3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E7C11-7DC6-89B6-B1AE-F07AA44DB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E57B4-0DC9-4F7C-54DC-F89247B1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3884-4594-AB6C-0ADB-14891B18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235A5-1406-44B9-1638-DB649C92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4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42378-6A95-2192-A970-78AAF5CDE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E9E54-7515-9085-A731-665320285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21B-9EF7-F67D-7975-9AC61AFF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2C2E-86B7-DE5D-FECC-3F3E3233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A48AA-95FC-5DE3-311F-DEB55A24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0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4437B-28F7-E6E1-8D6F-D8DD4458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F4226-B80C-8BC4-2BC8-FCF296D6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4BB5-CE5A-8A15-362D-A87CEC411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C24621D5-B0D4-1C4E-9290-7793F6914D9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50FB1-EB5C-9A31-B842-EDB56DFC8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27-C865-60EE-97EC-16AE06DF6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3E6B946F-EDD1-6C4E-B807-E6BFA42D7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5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eg"/><Relationship Id="rId26" Type="http://schemas.openxmlformats.org/officeDocument/2006/relationships/image" Target="../media/image24.jpeg"/><Relationship Id="rId3" Type="http://schemas.openxmlformats.org/officeDocument/2006/relationships/image" Target="../media/image1.jpg"/><Relationship Id="rId21" Type="http://schemas.openxmlformats.org/officeDocument/2006/relationships/image" Target="../media/image19.jpe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2.jpeg"/><Relationship Id="rId5" Type="http://schemas.openxmlformats.org/officeDocument/2006/relationships/image" Target="../media/image3.jp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10" Type="http://schemas.openxmlformats.org/officeDocument/2006/relationships/image" Target="../media/image8.jpg"/><Relationship Id="rId19" Type="http://schemas.openxmlformats.org/officeDocument/2006/relationships/image" Target="../media/image17.jpe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eg"/><Relationship Id="rId26" Type="http://schemas.openxmlformats.org/officeDocument/2006/relationships/image" Target="../media/image24.jpeg"/><Relationship Id="rId3" Type="http://schemas.openxmlformats.org/officeDocument/2006/relationships/image" Target="../media/image1.jpg"/><Relationship Id="rId21" Type="http://schemas.openxmlformats.org/officeDocument/2006/relationships/image" Target="../media/image19.jpe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2.jpeg"/><Relationship Id="rId5" Type="http://schemas.openxmlformats.org/officeDocument/2006/relationships/image" Target="../media/image3.jp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10" Type="http://schemas.openxmlformats.org/officeDocument/2006/relationships/image" Target="../media/image8.jpg"/><Relationship Id="rId19" Type="http://schemas.openxmlformats.org/officeDocument/2006/relationships/image" Target="../media/image17.jpe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arenkoca.com/females_MDS_3Dimensional" TargetMode="External"/><Relationship Id="rId2" Type="http://schemas.openxmlformats.org/officeDocument/2006/relationships/hyperlink" Target="https://yarenkoca.com/males_MDS_3Dimensiona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84C8-AED3-2B49-4561-57546E4F0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7879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" sz="5600" dirty="0">
                <a:latin typeface="+mj-lt"/>
              </a:rPr>
              <a:t>How do we organize facial identity in memory?</a:t>
            </a:r>
            <a:endParaRPr lang="en-US" sz="5600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D12BB-AB44-8AAD-BA76-395A6CCA7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9736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Yaren Koca, Chris </a:t>
            </a:r>
            <a:r>
              <a:rPr lang="en-US" sz="2000" dirty="0" err="1">
                <a:latin typeface="Aptos" panose="020B0004020202020204" pitchFamily="34" charset="0"/>
              </a:rPr>
              <a:t>Oriet</a:t>
            </a:r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R.I.C.E. Lab</a:t>
            </a:r>
          </a:p>
          <a:p>
            <a:r>
              <a:rPr lang="en-US" sz="2000" dirty="0">
                <a:latin typeface="Aptos" panose="020B0004020202020204" pitchFamily="34" charset="0"/>
              </a:rPr>
              <a:t>Experimental and Applied Psychology</a:t>
            </a:r>
          </a:p>
          <a:p>
            <a:r>
              <a:rPr lang="en-US" sz="2000" dirty="0">
                <a:latin typeface="Aptos" panose="020B0004020202020204" pitchFamily="34" charset="0"/>
              </a:rPr>
              <a:t>University of Regina </a:t>
            </a:r>
          </a:p>
          <a:p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4428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2BB749F-58CE-ED21-E7DA-895E99324BF5}"/>
              </a:ext>
            </a:extLst>
          </p:cNvPr>
          <p:cNvGrpSpPr/>
          <p:nvPr/>
        </p:nvGrpSpPr>
        <p:grpSpPr>
          <a:xfrm>
            <a:off x="7118881" y="1006489"/>
            <a:ext cx="3744011" cy="5038659"/>
            <a:chOff x="4053266" y="1689111"/>
            <a:chExt cx="2907184" cy="3912464"/>
          </a:xfrm>
        </p:grpSpPr>
        <p:pic>
          <p:nvPicPr>
            <p:cNvPr id="18" name="Shape 4" descr="A person in a suit and tie&#10;&#10;Description automatically generated with medium confidence">
              <a:extLst>
                <a:ext uri="{FF2B5EF4-FFF2-40B4-BE49-F238E27FC236}">
                  <a16:creationId xmlns:a16="http://schemas.microsoft.com/office/drawing/2014/main" id="{87669EC5-D231-82A7-4DAF-95373A60F76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24403" y="3648496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Shape 5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6AFF818C-8359-B0D8-91A4-79B8A75E342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995541" y="364144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Shape 6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D1648D59-A21D-02DF-3296-3D65ED06048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95541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Shape 7" descr="A picture containing person, person, indoor, posing&#10;&#10;Description automatically generated">
              <a:extLst>
                <a:ext uri="{FF2B5EF4-FFF2-40B4-BE49-F238E27FC236}">
                  <a16:creationId xmlns:a16="http://schemas.microsoft.com/office/drawing/2014/main" id="{65A42159-108F-87AC-1B2B-9FC2BEE5E6E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24403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Shape 8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1EFB4850-0D51-9387-5F22-750709272A4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024404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Shape 9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D4F4176B-5168-9B10-0B13-04EB46E0A438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995541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Shape 10" descr="A person with glasses&#10;&#10;Description automatically generated with low confidence">
              <a:extLst>
                <a:ext uri="{FF2B5EF4-FFF2-40B4-BE49-F238E27FC236}">
                  <a16:creationId xmlns:a16="http://schemas.microsoft.com/office/drawing/2014/main" id="{B592363B-02B0-E440-3346-927078CE6B3F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995541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Shape 11" descr="A person with a beard&#10;&#10;Description automatically generated with medium confidence">
              <a:extLst>
                <a:ext uri="{FF2B5EF4-FFF2-40B4-BE49-F238E27FC236}">
                  <a16:creationId xmlns:a16="http://schemas.microsoft.com/office/drawing/2014/main" id="{41CA8A24-F1DA-3E76-3A2F-9049250A1121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024403" y="266988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Shape 12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8C7056E7-F8AC-B545-61FC-D47A80741295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053266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Shape 13" descr="A person with a beard and glasses&#10;&#10;Description automatically generated with medium confidence">
              <a:extLst>
                <a:ext uri="{FF2B5EF4-FFF2-40B4-BE49-F238E27FC236}">
                  <a16:creationId xmlns:a16="http://schemas.microsoft.com/office/drawing/2014/main" id="{3B15C697-FB66-B257-0F13-3150FCA5F6A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053266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Shape 14" descr="A picture containing person, person, wall, suit&#10;&#10;Description automatically generated">
              <a:extLst>
                <a:ext uri="{FF2B5EF4-FFF2-40B4-BE49-F238E27FC236}">
                  <a16:creationId xmlns:a16="http://schemas.microsoft.com/office/drawing/2014/main" id="{3578EC0A-CFED-1B84-1F99-A60F9C4036DF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053266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Shape 15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C8210E81-3598-47DC-3C44-A73D6ED442EA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053266" y="364996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360672-2BC8-4B30-4BBB-961E35BD53DF}"/>
              </a:ext>
            </a:extLst>
          </p:cNvPr>
          <p:cNvGrpSpPr/>
          <p:nvPr/>
        </p:nvGrpSpPr>
        <p:grpSpPr>
          <a:xfrm>
            <a:off x="1391678" y="1015724"/>
            <a:ext cx="3783729" cy="5053192"/>
            <a:chOff x="1557761" y="1165069"/>
            <a:chExt cx="3783729" cy="5053192"/>
          </a:xfrm>
        </p:grpSpPr>
        <p:pic>
          <p:nvPicPr>
            <p:cNvPr id="2054" name="Picture 6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A073C80D-819B-11B7-5F2D-A8BDD69403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20" t="8590" r="33395" b="28141"/>
            <a:stretch>
              <a:fillRect/>
            </a:stretch>
          </p:blipFill>
          <p:spPr bwMode="auto">
            <a:xfrm>
              <a:off x="155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DA272050-5D1B-599A-4D0B-EAE612C291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01" t="6281" r="33354" b="39651"/>
            <a:stretch>
              <a:fillRect/>
            </a:stretch>
          </p:blipFill>
          <p:spPr bwMode="auto">
            <a:xfrm>
              <a:off x="4077761" y="242090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A08595D9-B0AF-C284-F29B-EE2E6FD453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13" t="6547" r="25339" b="15382"/>
            <a:stretch>
              <a:fillRect/>
            </a:stretch>
          </p:blipFill>
          <p:spPr bwMode="auto">
            <a:xfrm>
              <a:off x="4079196" y="368090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30,470 Woman Neutral Face Royalty-Free Images, Stock Photos &amp; Pictures |  Shutterstock">
              <a:extLst>
                <a:ext uri="{FF2B5EF4-FFF2-40B4-BE49-F238E27FC236}">
                  <a16:creationId xmlns:a16="http://schemas.microsoft.com/office/drawing/2014/main" id="{BDAE7AF5-0DC7-3C8A-2C56-C475DF9753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12" t="3351" r="27553" b="40885"/>
            <a:stretch>
              <a:fillRect/>
            </a:stretch>
          </p:blipFill>
          <p:spPr bwMode="auto">
            <a:xfrm>
              <a:off x="2821490" y="3691665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8" name="Picture 20" descr="Human Expressions and Emotions. Young Attractive Woman with a Neutral Face.  Stock Photo - Image of attitude, charming: 115700616">
              <a:extLst>
                <a:ext uri="{FF2B5EF4-FFF2-40B4-BE49-F238E27FC236}">
                  <a16:creationId xmlns:a16="http://schemas.microsoft.com/office/drawing/2014/main" id="{14EC0417-AAA0-0CD6-63E7-F929DF4317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2" t="4466" r="31200" b="35148"/>
            <a:stretch>
              <a:fillRect/>
            </a:stretch>
          </p:blipFill>
          <p:spPr bwMode="auto">
            <a:xfrm>
              <a:off x="407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0" name="Picture 22" descr="Man Head Shot With Neutral Face Expression And White Background Stock  Photo, Picture and Royalty Free Image. Image 57053528.">
              <a:extLst>
                <a:ext uri="{FF2B5EF4-FFF2-40B4-BE49-F238E27FC236}">
                  <a16:creationId xmlns:a16="http://schemas.microsoft.com/office/drawing/2014/main" id="{AF4C0C99-1E44-B95B-13E7-A1C8371FB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3" t="6382" r="4540" b="24103"/>
            <a:stretch>
              <a:fillRect/>
            </a:stretch>
          </p:blipFill>
          <p:spPr bwMode="auto">
            <a:xfrm>
              <a:off x="2809739" y="242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2" name="Picture 24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47C0F293-EC2B-5062-4CEC-663BF0748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35" t="12783" r="35610" b="41384"/>
            <a:stretch>
              <a:fillRect/>
            </a:stretch>
          </p:blipFill>
          <p:spPr bwMode="auto">
            <a:xfrm>
              <a:off x="281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4" name="Picture 26" descr="8,537 Woman Face Neutral Stock Photos - Free &amp; Royalty-Free Stock Photos  from Dreamstime">
              <a:extLst>
                <a:ext uri="{FF2B5EF4-FFF2-40B4-BE49-F238E27FC236}">
                  <a16:creationId xmlns:a16="http://schemas.microsoft.com/office/drawing/2014/main" id="{8F25D028-AF36-B5EA-15BE-586C768CD5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05" t="11422" r="35480" b="40844"/>
            <a:stretch>
              <a:fillRect/>
            </a:stretch>
          </p:blipFill>
          <p:spPr bwMode="auto">
            <a:xfrm>
              <a:off x="1565782" y="242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6" name="Picture 28" descr="6,017 Young Woman Neutral Face Stock Photos - Free &amp; Royalty-Free Stock  Photos from Dreamstime">
              <a:extLst>
                <a:ext uri="{FF2B5EF4-FFF2-40B4-BE49-F238E27FC236}">
                  <a16:creationId xmlns:a16="http://schemas.microsoft.com/office/drawing/2014/main" id="{68C7FA84-0033-17DE-37FB-8052DD31C8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97" t="6703" r="36429" b="41492"/>
            <a:stretch>
              <a:fillRect/>
            </a:stretch>
          </p:blipFill>
          <p:spPr bwMode="auto">
            <a:xfrm>
              <a:off x="1569208" y="4954963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Portrait of a young handsome hispanic man with neutral expression — Stock  Photo © josemagon #76896481">
              <a:extLst>
                <a:ext uri="{FF2B5EF4-FFF2-40B4-BE49-F238E27FC236}">
                  <a16:creationId xmlns:a16="http://schemas.microsoft.com/office/drawing/2014/main" id="{C87C7C6C-CF13-67EA-1979-B4048198A5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02" t="4577" r="24234" b="37558"/>
            <a:stretch>
              <a:fillRect/>
            </a:stretch>
          </p:blipFill>
          <p:spPr bwMode="auto">
            <a:xfrm>
              <a:off x="1569208" y="368836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0" name="Picture 32" descr="3,434 Serious Neutral Face Stock Photos - Free &amp; Royalty-Free Stock Photos  from Dreamstime">
              <a:extLst>
                <a:ext uri="{FF2B5EF4-FFF2-40B4-BE49-F238E27FC236}">
                  <a16:creationId xmlns:a16="http://schemas.microsoft.com/office/drawing/2014/main" id="{317BD5C8-6581-7C97-7CE7-9CD371AFD8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6" t="11181" r="32492" b="42845"/>
            <a:stretch>
              <a:fillRect/>
            </a:stretch>
          </p:blipFill>
          <p:spPr bwMode="auto">
            <a:xfrm>
              <a:off x="4081490" y="4958261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2" name="Picture 34" descr="81,867 Neutral Expression Royalty-Free Images, Stock Photos &amp; Pictures |  Shutterstock">
              <a:extLst>
                <a:ext uri="{FF2B5EF4-FFF2-40B4-BE49-F238E27FC236}">
                  <a16:creationId xmlns:a16="http://schemas.microsoft.com/office/drawing/2014/main" id="{F63E764F-EE6E-26F1-A77B-E0627462C2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26" t="3396" r="32726" b="50850"/>
            <a:stretch>
              <a:fillRect/>
            </a:stretch>
          </p:blipFill>
          <p:spPr bwMode="auto">
            <a:xfrm>
              <a:off x="2805435" y="4951665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9DC59B6-864F-37E7-025C-95B6C87A5204}"/>
              </a:ext>
            </a:extLst>
          </p:cNvPr>
          <p:cNvSpPr txBox="1"/>
          <p:nvPr/>
        </p:nvSpPr>
        <p:spPr>
          <a:xfrm>
            <a:off x="990323" y="395685"/>
            <a:ext cx="4815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Between-people homogeneity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729C4B-36C5-AA71-F072-27C8BD74A7D0}"/>
              </a:ext>
            </a:extLst>
          </p:cNvPr>
          <p:cNvSpPr txBox="1"/>
          <p:nvPr/>
        </p:nvSpPr>
        <p:spPr>
          <a:xfrm>
            <a:off x="7016595" y="395685"/>
            <a:ext cx="394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Within-person variability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BB390-4A93-A7EC-BF12-EBE7636406D2}"/>
              </a:ext>
            </a:extLst>
          </p:cNvPr>
          <p:cNvSpPr txBox="1"/>
          <p:nvPr/>
        </p:nvSpPr>
        <p:spPr>
          <a:xfrm>
            <a:off x="1784169" y="6086270"/>
            <a:ext cx="2970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Telling faces apart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8F92FA-75E3-C948-B418-F6F065E93554}"/>
              </a:ext>
            </a:extLst>
          </p:cNvPr>
          <p:cNvSpPr txBox="1"/>
          <p:nvPr/>
        </p:nvSpPr>
        <p:spPr>
          <a:xfrm>
            <a:off x="7267432" y="6062502"/>
            <a:ext cx="3446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Telling faces together</a:t>
            </a:r>
          </a:p>
        </p:txBody>
      </p:sp>
    </p:spTree>
    <p:extLst>
      <p:ext uri="{BB962C8B-B14F-4D97-AF65-F5344CB8AC3E}">
        <p14:creationId xmlns:p14="http://schemas.microsoft.com/office/powerpoint/2010/main" val="23920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3AB7C-71BF-BAA6-E3DF-38C1E3C9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B47D-322B-B201-E9D7-4F24D03D2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8197"/>
            <a:ext cx="10515600" cy="2981606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How do we organize faces in memory?</a:t>
            </a:r>
          </a:p>
        </p:txBody>
      </p:sp>
    </p:spTree>
    <p:extLst>
      <p:ext uri="{BB962C8B-B14F-4D97-AF65-F5344CB8AC3E}">
        <p14:creationId xmlns:p14="http://schemas.microsoft.com/office/powerpoint/2010/main" val="349664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FD57-D9DE-B8C2-D165-4CA0AD4B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3DE3306-25F5-F30F-F31E-600DF9B92956}"/>
              </a:ext>
            </a:extLst>
          </p:cNvPr>
          <p:cNvGrpSpPr/>
          <p:nvPr/>
        </p:nvGrpSpPr>
        <p:grpSpPr>
          <a:xfrm>
            <a:off x="7118881" y="1006489"/>
            <a:ext cx="3744011" cy="5038659"/>
            <a:chOff x="4053266" y="1689111"/>
            <a:chExt cx="2907184" cy="3912464"/>
          </a:xfrm>
        </p:grpSpPr>
        <p:pic>
          <p:nvPicPr>
            <p:cNvPr id="18" name="Shape 4" descr="A person in a suit and tie&#10;&#10;Description automatically generated with medium confidence">
              <a:extLst>
                <a:ext uri="{FF2B5EF4-FFF2-40B4-BE49-F238E27FC236}">
                  <a16:creationId xmlns:a16="http://schemas.microsoft.com/office/drawing/2014/main" id="{3A40D062-25EC-0F86-3556-465E77ABF31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24403" y="3648496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Shape 5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29CCBB14-EFC0-21BD-686D-3044BD7C75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995541" y="364144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Shape 6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0BF194B4-4CED-2989-E4F1-A619CBB0552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95541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Shape 7" descr="A picture containing person, person, indoor, posing&#10;&#10;Description automatically generated">
              <a:extLst>
                <a:ext uri="{FF2B5EF4-FFF2-40B4-BE49-F238E27FC236}">
                  <a16:creationId xmlns:a16="http://schemas.microsoft.com/office/drawing/2014/main" id="{DF388ABE-F1C7-2997-132D-B2C03FE07AB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24403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Shape 8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D73D367E-21DD-DA7A-609D-676C71335B9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024404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Shape 9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310CC91B-4AEC-9E3E-5791-31E7E64D51B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995541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Shape 10" descr="A person with glasses&#10;&#10;Description automatically generated with low confidence">
              <a:extLst>
                <a:ext uri="{FF2B5EF4-FFF2-40B4-BE49-F238E27FC236}">
                  <a16:creationId xmlns:a16="http://schemas.microsoft.com/office/drawing/2014/main" id="{45A89EF6-A130-A5BC-D762-ED88632A48FE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995541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Shape 11" descr="A person with a beard&#10;&#10;Description automatically generated with medium confidence">
              <a:extLst>
                <a:ext uri="{FF2B5EF4-FFF2-40B4-BE49-F238E27FC236}">
                  <a16:creationId xmlns:a16="http://schemas.microsoft.com/office/drawing/2014/main" id="{BC561BB4-EBE6-FAF1-E7A3-B271892D3F73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024403" y="266988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Shape 12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F90729CF-0151-7D09-3110-7A6077A09DDA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053266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Shape 13" descr="A person with a beard and glasses&#10;&#10;Description automatically generated with medium confidence">
              <a:extLst>
                <a:ext uri="{FF2B5EF4-FFF2-40B4-BE49-F238E27FC236}">
                  <a16:creationId xmlns:a16="http://schemas.microsoft.com/office/drawing/2014/main" id="{D17540EF-C6EE-61E1-7CCF-FA459C5A567A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053266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Shape 14" descr="A picture containing person, person, wall, suit&#10;&#10;Description automatically generated">
              <a:extLst>
                <a:ext uri="{FF2B5EF4-FFF2-40B4-BE49-F238E27FC236}">
                  <a16:creationId xmlns:a16="http://schemas.microsoft.com/office/drawing/2014/main" id="{0A675C3C-BD6E-B93B-3942-231384754F0B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053266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Shape 15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18428F7E-7578-588B-747E-F02B027E78F1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053266" y="364996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A70406-BCAA-F970-F33C-9AB92EF02E2A}"/>
              </a:ext>
            </a:extLst>
          </p:cNvPr>
          <p:cNvGrpSpPr/>
          <p:nvPr/>
        </p:nvGrpSpPr>
        <p:grpSpPr>
          <a:xfrm>
            <a:off x="1391678" y="1015724"/>
            <a:ext cx="3783729" cy="5053192"/>
            <a:chOff x="1557761" y="1165069"/>
            <a:chExt cx="3783729" cy="5053192"/>
          </a:xfrm>
        </p:grpSpPr>
        <p:pic>
          <p:nvPicPr>
            <p:cNvPr id="2054" name="Picture 6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1B115599-5BA8-DA32-D8AD-EABD7DD832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20" t="8590" r="33395" b="28141"/>
            <a:stretch>
              <a:fillRect/>
            </a:stretch>
          </p:blipFill>
          <p:spPr bwMode="auto">
            <a:xfrm>
              <a:off x="155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ADC30E0C-5F31-DD51-E7CE-94366A7595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01" t="6281" r="33354" b="39651"/>
            <a:stretch>
              <a:fillRect/>
            </a:stretch>
          </p:blipFill>
          <p:spPr bwMode="auto">
            <a:xfrm>
              <a:off x="4077761" y="242090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6A9DD7DD-DD58-FEAA-E5FE-1D5F1030E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13" t="6547" r="25339" b="15382"/>
            <a:stretch>
              <a:fillRect/>
            </a:stretch>
          </p:blipFill>
          <p:spPr bwMode="auto">
            <a:xfrm>
              <a:off x="4079196" y="368090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30,470 Woman Neutral Face Royalty-Free Images, Stock Photos &amp; Pictures |  Shutterstock">
              <a:extLst>
                <a:ext uri="{FF2B5EF4-FFF2-40B4-BE49-F238E27FC236}">
                  <a16:creationId xmlns:a16="http://schemas.microsoft.com/office/drawing/2014/main" id="{0C6212BB-1C91-84BE-6DE9-4994AFEE4C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12" t="3351" r="27553" b="40885"/>
            <a:stretch>
              <a:fillRect/>
            </a:stretch>
          </p:blipFill>
          <p:spPr bwMode="auto">
            <a:xfrm>
              <a:off x="2821490" y="3691665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8" name="Picture 20" descr="Human Expressions and Emotions. Young Attractive Woman with a Neutral Face.  Stock Photo - Image of attitude, charming: 115700616">
              <a:extLst>
                <a:ext uri="{FF2B5EF4-FFF2-40B4-BE49-F238E27FC236}">
                  <a16:creationId xmlns:a16="http://schemas.microsoft.com/office/drawing/2014/main" id="{3439964A-6839-9C1F-6F55-D414EA73A9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92" t="4466" r="31200" b="35148"/>
            <a:stretch>
              <a:fillRect/>
            </a:stretch>
          </p:blipFill>
          <p:spPr bwMode="auto">
            <a:xfrm>
              <a:off x="407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0" name="Picture 22" descr="Man Head Shot With Neutral Face Expression And White Background Stock  Photo, Picture and Royalty Free Image. Image 57053528.">
              <a:extLst>
                <a:ext uri="{FF2B5EF4-FFF2-40B4-BE49-F238E27FC236}">
                  <a16:creationId xmlns:a16="http://schemas.microsoft.com/office/drawing/2014/main" id="{E8229E0D-DF47-3B3B-BE78-111E04C1D2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3" t="6382" r="4540" b="24103"/>
            <a:stretch>
              <a:fillRect/>
            </a:stretch>
          </p:blipFill>
          <p:spPr bwMode="auto">
            <a:xfrm>
              <a:off x="2809739" y="242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2" name="Picture 24" descr="Neutral Face Images – Browse 283,783 Stock Photos, Vectors, and Video |  Adobe Stock">
              <a:extLst>
                <a:ext uri="{FF2B5EF4-FFF2-40B4-BE49-F238E27FC236}">
                  <a16:creationId xmlns:a16="http://schemas.microsoft.com/office/drawing/2014/main" id="{DF62DDE8-68BC-4267-3CDC-BED43CE27B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35" t="12783" r="35610" b="41384"/>
            <a:stretch>
              <a:fillRect/>
            </a:stretch>
          </p:blipFill>
          <p:spPr bwMode="auto">
            <a:xfrm>
              <a:off x="2817761" y="116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4" name="Picture 26" descr="8,537 Woman Face Neutral Stock Photos - Free &amp; Royalty-Free Stock Photos  from Dreamstime">
              <a:extLst>
                <a:ext uri="{FF2B5EF4-FFF2-40B4-BE49-F238E27FC236}">
                  <a16:creationId xmlns:a16="http://schemas.microsoft.com/office/drawing/2014/main" id="{C981F18B-7C2B-732B-D7AE-5C890A1AE6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05" t="11422" r="35480" b="40844"/>
            <a:stretch>
              <a:fillRect/>
            </a:stretch>
          </p:blipFill>
          <p:spPr bwMode="auto">
            <a:xfrm>
              <a:off x="1565782" y="2425069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6" name="Picture 28" descr="6,017 Young Woman Neutral Face Stock Photos - Free &amp; Royalty-Free Stock  Photos from Dreamstime">
              <a:extLst>
                <a:ext uri="{FF2B5EF4-FFF2-40B4-BE49-F238E27FC236}">
                  <a16:creationId xmlns:a16="http://schemas.microsoft.com/office/drawing/2014/main" id="{AF673CDB-F2FE-CCCD-4BA7-7C932FC0A3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97" t="6703" r="36429" b="41492"/>
            <a:stretch>
              <a:fillRect/>
            </a:stretch>
          </p:blipFill>
          <p:spPr bwMode="auto">
            <a:xfrm>
              <a:off x="1569208" y="4954963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Portrait of a young handsome hispanic man with neutral expression — Stock  Photo © josemagon #76896481">
              <a:extLst>
                <a:ext uri="{FF2B5EF4-FFF2-40B4-BE49-F238E27FC236}">
                  <a16:creationId xmlns:a16="http://schemas.microsoft.com/office/drawing/2014/main" id="{63D0EBC5-ECED-B4CB-2F51-C48227776D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02" t="4577" r="24234" b="37558"/>
            <a:stretch>
              <a:fillRect/>
            </a:stretch>
          </p:blipFill>
          <p:spPr bwMode="auto">
            <a:xfrm>
              <a:off x="1569208" y="368836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0" name="Picture 32" descr="3,434 Serious Neutral Face Stock Photos - Free &amp; Royalty-Free Stock Photos  from Dreamstime">
              <a:extLst>
                <a:ext uri="{FF2B5EF4-FFF2-40B4-BE49-F238E27FC236}">
                  <a16:creationId xmlns:a16="http://schemas.microsoft.com/office/drawing/2014/main" id="{7CCA077A-FC7D-13F7-2D89-6FD85D98A9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6" t="11181" r="32492" b="42845"/>
            <a:stretch>
              <a:fillRect/>
            </a:stretch>
          </p:blipFill>
          <p:spPr bwMode="auto">
            <a:xfrm>
              <a:off x="4081490" y="4958261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2" name="Picture 34" descr="81,867 Neutral Expression Royalty-Free Images, Stock Photos &amp; Pictures |  Shutterstock">
              <a:extLst>
                <a:ext uri="{FF2B5EF4-FFF2-40B4-BE49-F238E27FC236}">
                  <a16:creationId xmlns:a16="http://schemas.microsoft.com/office/drawing/2014/main" id="{0067A4F9-FEA5-CFD1-2FAE-5E356A5F4E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26" t="3396" r="32726" b="50850"/>
            <a:stretch>
              <a:fillRect/>
            </a:stretch>
          </p:blipFill>
          <p:spPr bwMode="auto">
            <a:xfrm>
              <a:off x="2805435" y="4951665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96E1E39-CFA4-C045-57D6-200410A3393D}"/>
              </a:ext>
            </a:extLst>
          </p:cNvPr>
          <p:cNvSpPr txBox="1"/>
          <p:nvPr/>
        </p:nvSpPr>
        <p:spPr>
          <a:xfrm>
            <a:off x="990323" y="395685"/>
            <a:ext cx="4815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Between-people homogeneity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CD1956-D55F-D650-A329-D7B6FF08C4F4}"/>
              </a:ext>
            </a:extLst>
          </p:cNvPr>
          <p:cNvSpPr txBox="1"/>
          <p:nvPr/>
        </p:nvSpPr>
        <p:spPr>
          <a:xfrm>
            <a:off x="7016595" y="395685"/>
            <a:ext cx="394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Within-person variability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C37635-39F1-6238-FFD3-B5ACC59F8513}"/>
              </a:ext>
            </a:extLst>
          </p:cNvPr>
          <p:cNvSpPr txBox="1"/>
          <p:nvPr/>
        </p:nvSpPr>
        <p:spPr>
          <a:xfrm>
            <a:off x="1784169" y="6086270"/>
            <a:ext cx="2970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Telling faces apart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365D3-AA2B-32D0-2AFD-127B16B7258C}"/>
              </a:ext>
            </a:extLst>
          </p:cNvPr>
          <p:cNvSpPr txBox="1"/>
          <p:nvPr/>
        </p:nvSpPr>
        <p:spPr>
          <a:xfrm>
            <a:off x="7267432" y="6062502"/>
            <a:ext cx="3446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Telling faces together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7E62B-4F79-6234-86A0-9B68A6844B51}"/>
              </a:ext>
            </a:extLst>
          </p:cNvPr>
          <p:cNvSpPr txBox="1"/>
          <p:nvPr/>
        </p:nvSpPr>
        <p:spPr>
          <a:xfrm>
            <a:off x="1158196" y="419635"/>
            <a:ext cx="4342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Between-people </a:t>
            </a:r>
            <a:r>
              <a:rPr lang="en-US" sz="2800" b="1" dirty="0"/>
              <a:t>similarity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2FF95-D023-A689-B9EC-F4C5626BADCA}"/>
              </a:ext>
            </a:extLst>
          </p:cNvPr>
          <p:cNvSpPr txBox="1"/>
          <p:nvPr/>
        </p:nvSpPr>
        <p:spPr>
          <a:xfrm>
            <a:off x="7016595" y="395685"/>
            <a:ext cx="4488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Within-person </a:t>
            </a:r>
            <a:r>
              <a:rPr lang="en-US" sz="2800" b="1" dirty="0"/>
              <a:t>dissimilarity</a:t>
            </a:r>
          </a:p>
        </p:txBody>
      </p:sp>
    </p:spTree>
    <p:extLst>
      <p:ext uri="{BB962C8B-B14F-4D97-AF65-F5344CB8AC3E}">
        <p14:creationId xmlns:p14="http://schemas.microsoft.com/office/powerpoint/2010/main" val="70994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352AA-B008-7FA6-B4AA-2A00C844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2670998" y="67193"/>
            <a:ext cx="6183086" cy="6723613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923F72-2FAD-DAF9-E180-24A647CF79E0}"/>
              </a:ext>
            </a:extLst>
          </p:cNvPr>
          <p:cNvSpPr/>
          <p:nvPr/>
        </p:nvSpPr>
        <p:spPr>
          <a:xfrm>
            <a:off x="2918668" y="458260"/>
            <a:ext cx="743663" cy="99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Zooey Deschanel - IMDb">
            <a:extLst>
              <a:ext uri="{FF2B5EF4-FFF2-40B4-BE49-F238E27FC236}">
                <a16:creationId xmlns:a16="http://schemas.microsoft.com/office/drawing/2014/main" id="{FCB0E9F5-AB8E-DA07-D648-107DA52E9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68" y="2669228"/>
            <a:ext cx="695269" cy="92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Katy Perry Looks like Zooey Deschanel, and vice versa | Misc. | Orange  County Photographer">
            <a:extLst>
              <a:ext uri="{FF2B5EF4-FFF2-40B4-BE49-F238E27FC236}">
                <a16:creationId xmlns:a16="http://schemas.microsoft.com/office/drawing/2014/main" id="{5A209A4D-4734-4AFC-74BE-8E9C6B1C7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-640"/>
          <a:stretch/>
        </p:blipFill>
        <p:spPr bwMode="auto">
          <a:xfrm>
            <a:off x="5727244" y="3250691"/>
            <a:ext cx="696903" cy="105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Steve Buscemi - IMDb">
            <a:extLst>
              <a:ext uri="{FF2B5EF4-FFF2-40B4-BE49-F238E27FC236}">
                <a16:creationId xmlns:a16="http://schemas.microsoft.com/office/drawing/2014/main" id="{B671C510-2FA1-1E40-7364-48916D6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757" y="1619642"/>
            <a:ext cx="784598" cy="104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enedict Cumberbatch - Movies, Wife &amp; Facts">
            <a:extLst>
              <a:ext uri="{FF2B5EF4-FFF2-40B4-BE49-F238E27FC236}">
                <a16:creationId xmlns:a16="http://schemas.microsoft.com/office/drawing/2014/main" id="{B1E155DE-ABE1-2046-5DC0-BBE2A2EA85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2" r="21592" b="13325"/>
          <a:stretch/>
        </p:blipFill>
        <p:spPr bwMode="auto">
          <a:xfrm>
            <a:off x="4013183" y="4324102"/>
            <a:ext cx="696903" cy="105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E653B9E-0C26-199E-2EA2-537D470CDDCF}"/>
              </a:ext>
            </a:extLst>
          </p:cNvPr>
          <p:cNvSpPr txBox="1"/>
          <p:nvPr/>
        </p:nvSpPr>
        <p:spPr>
          <a:xfrm>
            <a:off x="10647090" y="6519446"/>
            <a:ext cx="1544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Valentine, 1991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C757C-64E0-D89F-0E32-E884329F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8197"/>
            <a:ext cx="10515600" cy="2981606"/>
          </a:xfrm>
          <a:solidFill>
            <a:schemeClr val="accent6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Similarity = Distance</a:t>
            </a:r>
          </a:p>
        </p:txBody>
      </p:sp>
    </p:spTree>
    <p:extLst>
      <p:ext uri="{BB962C8B-B14F-4D97-AF65-F5344CB8AC3E}">
        <p14:creationId xmlns:p14="http://schemas.microsoft.com/office/powerpoint/2010/main" val="332948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101,895 Angle Face Royalty-Free Images, Stock Photos &amp; Pictures |  Shutterstock">
            <a:extLst>
              <a:ext uri="{FF2B5EF4-FFF2-40B4-BE49-F238E27FC236}">
                <a16:creationId xmlns:a16="http://schemas.microsoft.com/office/drawing/2014/main" id="{3FB9EE70-3966-89AD-C579-1D648AFF4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7" t="1654" r="43916" b="25736"/>
          <a:stretch>
            <a:fillRect/>
          </a:stretch>
        </p:blipFill>
        <p:spPr bwMode="auto">
          <a:xfrm>
            <a:off x="4523940" y="1449000"/>
            <a:ext cx="157206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101,895 Angle Face Royalty-Free Images, Stock Photos &amp; Pictures |  Shutterstock">
            <a:extLst>
              <a:ext uri="{FF2B5EF4-FFF2-40B4-BE49-F238E27FC236}">
                <a16:creationId xmlns:a16="http://schemas.microsoft.com/office/drawing/2014/main" id="{86263F12-0D1D-1B2F-9A39-12E501ECC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7" t="2568" r="21965" b="24821"/>
          <a:stretch>
            <a:fillRect/>
          </a:stretch>
        </p:blipFill>
        <p:spPr bwMode="auto">
          <a:xfrm>
            <a:off x="6582101" y="3696129"/>
            <a:ext cx="1566198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101,895 Angle Face Royalty-Free Images, Stock Photos &amp; Pictures |  Shutterstock">
            <a:extLst>
              <a:ext uri="{FF2B5EF4-FFF2-40B4-BE49-F238E27FC236}">
                <a16:creationId xmlns:a16="http://schemas.microsoft.com/office/drawing/2014/main" id="{0F43A618-7C75-15E7-6816-D9D3BFA99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7" t="1654" r="43916" b="25736"/>
          <a:stretch>
            <a:fillRect/>
          </a:stretch>
        </p:blipFill>
        <p:spPr bwMode="auto">
          <a:xfrm>
            <a:off x="6598587" y="1440663"/>
            <a:ext cx="157206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3D97B0-9C35-C4AA-C83A-4FA9BEB259EF}"/>
              </a:ext>
            </a:extLst>
          </p:cNvPr>
          <p:cNvSpPr txBox="1"/>
          <p:nvPr/>
        </p:nvSpPr>
        <p:spPr>
          <a:xfrm>
            <a:off x="4943395" y="1071331"/>
            <a:ext cx="733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B63F32-E720-879A-A356-B53167574EE3}"/>
              </a:ext>
            </a:extLst>
          </p:cNvPr>
          <p:cNvSpPr txBox="1"/>
          <p:nvPr/>
        </p:nvSpPr>
        <p:spPr>
          <a:xfrm>
            <a:off x="7101174" y="1071331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</a:t>
            </a:r>
          </a:p>
        </p:txBody>
      </p:sp>
      <p:pic>
        <p:nvPicPr>
          <p:cNvPr id="17" name="Picture 2" descr="101,895 Angle Face Royalty-Free Images, Stock Photos &amp; Pictures |  Shutterstock">
            <a:extLst>
              <a:ext uri="{FF2B5EF4-FFF2-40B4-BE49-F238E27FC236}">
                <a16:creationId xmlns:a16="http://schemas.microsoft.com/office/drawing/2014/main" id="{9CDAFABE-FC39-7F14-6336-4D3395D11B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7" t="1654" r="43916" b="25736"/>
          <a:stretch>
            <a:fillRect/>
          </a:stretch>
        </p:blipFill>
        <p:spPr bwMode="auto">
          <a:xfrm>
            <a:off x="4523940" y="3696129"/>
            <a:ext cx="157206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77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6E6CC1D-B392-FB96-6335-CB6DBC98437A}"/>
              </a:ext>
            </a:extLst>
          </p:cNvPr>
          <p:cNvGrpSpPr/>
          <p:nvPr/>
        </p:nvGrpSpPr>
        <p:grpSpPr>
          <a:xfrm>
            <a:off x="4223994" y="909670"/>
            <a:ext cx="3744011" cy="5038659"/>
            <a:chOff x="4053266" y="1689111"/>
            <a:chExt cx="2907184" cy="3912464"/>
          </a:xfrm>
        </p:grpSpPr>
        <p:pic>
          <p:nvPicPr>
            <p:cNvPr id="18" name="Shape 4" descr="A person in a suit and tie&#10;&#10;Description automatically generated with medium confidence">
              <a:extLst>
                <a:ext uri="{FF2B5EF4-FFF2-40B4-BE49-F238E27FC236}">
                  <a16:creationId xmlns:a16="http://schemas.microsoft.com/office/drawing/2014/main" id="{1C4FED3C-CE35-81F1-6C98-8493538FE16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024403" y="3648496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Shape 5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F3D0A939-F8C0-CB79-0B2C-1FFE8C34138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995541" y="364144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Shape 6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D9650A08-216F-54E7-D035-234EC92C703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995541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Shape 7" descr="A picture containing person, person, indoor, posing&#10;&#10;Description automatically generated">
              <a:extLst>
                <a:ext uri="{FF2B5EF4-FFF2-40B4-BE49-F238E27FC236}">
                  <a16:creationId xmlns:a16="http://schemas.microsoft.com/office/drawing/2014/main" id="{1B389821-B510-C2EC-7993-88CAF00D250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24403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Shape 8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07B75AC8-2C4A-F773-9994-B6AA4D9FA60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24404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Shape 9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8A75224D-705C-1BEC-AEB9-6B6909D662E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995541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Shape 10" descr="A person with glasses&#10;&#10;Description automatically generated with low confidence">
              <a:extLst>
                <a:ext uri="{FF2B5EF4-FFF2-40B4-BE49-F238E27FC236}">
                  <a16:creationId xmlns:a16="http://schemas.microsoft.com/office/drawing/2014/main" id="{A1D1AE41-7127-684C-58A9-74746D7A1E30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995541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Shape 11" descr="A person with a beard&#10;&#10;Description automatically generated with medium confidence">
              <a:extLst>
                <a:ext uri="{FF2B5EF4-FFF2-40B4-BE49-F238E27FC236}">
                  <a16:creationId xmlns:a16="http://schemas.microsoft.com/office/drawing/2014/main" id="{63F37022-6A07-5A98-873B-23CBD9ADFE0F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024403" y="266988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Shape 12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CFEADA6A-1730-BAA8-A85C-F5CD7D03603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53266" y="462645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Shape 13" descr="A person with a beard and glasses&#10;&#10;Description automatically generated with medium confidence">
              <a:extLst>
                <a:ext uri="{FF2B5EF4-FFF2-40B4-BE49-F238E27FC236}">
                  <a16:creationId xmlns:a16="http://schemas.microsoft.com/office/drawing/2014/main" id="{FF414B5F-6DCB-2C30-72DB-8F3F47FC21A8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053266" y="2666323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Shape 14" descr="A picture containing person, person, wall, suit&#10;&#10;Description automatically generated">
              <a:extLst>
                <a:ext uri="{FF2B5EF4-FFF2-40B4-BE49-F238E27FC236}">
                  <a16:creationId xmlns:a16="http://schemas.microsoft.com/office/drawing/2014/main" id="{0C4C95DE-79BA-0C6A-BCCC-AF958D0FE8E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053266" y="1689111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Shape 15" descr="A person in a suit&#10;&#10;Description automatically generated with medium confidence">
              <a:extLst>
                <a:ext uri="{FF2B5EF4-FFF2-40B4-BE49-F238E27FC236}">
                  <a16:creationId xmlns:a16="http://schemas.microsoft.com/office/drawing/2014/main" id="{3FBB78E2-7AD2-C066-DB7C-63F3ED92FEE5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053266" y="3649967"/>
              <a:ext cx="964909" cy="975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8C4296-420D-C87B-8EC9-FA9B579333D6}"/>
              </a:ext>
            </a:extLst>
          </p:cNvPr>
          <p:cNvSpPr txBox="1"/>
          <p:nvPr/>
        </p:nvSpPr>
        <p:spPr>
          <a:xfrm>
            <a:off x="10341814" y="6519446"/>
            <a:ext cx="1850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Jenkins et al., 2011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506DB-7359-797B-D277-B2D067E9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8197"/>
            <a:ext cx="10515600" cy="2981606"/>
          </a:xfrm>
          <a:solidFill>
            <a:schemeClr val="accent6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Familiarity</a:t>
            </a:r>
          </a:p>
        </p:txBody>
      </p:sp>
    </p:spTree>
    <p:extLst>
      <p:ext uri="{BB962C8B-B14F-4D97-AF65-F5344CB8AC3E}">
        <p14:creationId xmlns:p14="http://schemas.microsoft.com/office/powerpoint/2010/main" val="278747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02486-1D70-C504-BF1A-B4586F4C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7495DD-C6CB-87C4-B04A-3F116F79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8197"/>
            <a:ext cx="10515600" cy="29816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How is familiarity represented in the face space?</a:t>
            </a:r>
          </a:p>
        </p:txBody>
      </p:sp>
    </p:spTree>
    <p:extLst>
      <p:ext uri="{BB962C8B-B14F-4D97-AF65-F5344CB8AC3E}">
        <p14:creationId xmlns:p14="http://schemas.microsoft.com/office/powerpoint/2010/main" val="14402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BCA50C-5D10-8E58-E805-7DD508673163}"/>
              </a:ext>
            </a:extLst>
          </p:cNvPr>
          <p:cNvSpPr/>
          <p:nvPr/>
        </p:nvSpPr>
        <p:spPr>
          <a:xfrm>
            <a:off x="1644239" y="2419240"/>
            <a:ext cx="3600000" cy="2304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Similarity between different images of the same person (i.e., within-person distances) as a function of familiarity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31AD3-277C-52C3-7C9A-D4A787BD5A71}"/>
              </a:ext>
            </a:extLst>
          </p:cNvPr>
          <p:cNvSpPr txBox="1"/>
          <p:nvPr/>
        </p:nvSpPr>
        <p:spPr>
          <a:xfrm>
            <a:off x="8303691" y="6492875"/>
            <a:ext cx="388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Kramer et al., 2025; White et al., 2022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5969D1-396B-ABB5-2D08-959310058AA2}"/>
              </a:ext>
            </a:extLst>
          </p:cNvPr>
          <p:cNvSpPr/>
          <p:nvPr/>
        </p:nvSpPr>
        <p:spPr>
          <a:xfrm>
            <a:off x="6947762" y="2419240"/>
            <a:ext cx="3600000" cy="2304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Similarity between different identities (i.e., between-people distances) as a function of familiarity</a:t>
            </a:r>
          </a:p>
        </p:txBody>
      </p:sp>
    </p:spTree>
    <p:extLst>
      <p:ext uri="{BB962C8B-B14F-4D97-AF65-F5344CB8AC3E}">
        <p14:creationId xmlns:p14="http://schemas.microsoft.com/office/powerpoint/2010/main" val="28099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2D36895-8247-CCE4-2C43-4ACA2FA750A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156802"/>
          <a:ext cx="8127999" cy="254439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275593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615625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04379045"/>
                    </a:ext>
                  </a:extLst>
                </a:gridCol>
              </a:tblGrid>
              <a:tr h="8481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Male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Female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51779021"/>
                  </a:ext>
                </a:extLst>
              </a:tr>
              <a:tr h="8481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Familiar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identities</a:t>
                      </a:r>
                    </a:p>
                    <a:p>
                      <a:pPr algn="ctr"/>
                      <a:r>
                        <a:rPr lang="en-US" dirty="0"/>
                        <a:t>6 images +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identities</a:t>
                      </a:r>
                    </a:p>
                    <a:p>
                      <a:pPr algn="ctr"/>
                      <a:r>
                        <a:rPr lang="en-US" dirty="0"/>
                        <a:t>6 images + average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13309498"/>
                  </a:ext>
                </a:extLst>
              </a:tr>
              <a:tr h="8481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Unfamiliar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identities</a:t>
                      </a:r>
                    </a:p>
                    <a:p>
                      <a:pPr algn="ctr"/>
                      <a:r>
                        <a:rPr lang="en-US" dirty="0"/>
                        <a:t>6 images + average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identities</a:t>
                      </a:r>
                    </a:p>
                    <a:p>
                      <a:pPr algn="ctr"/>
                      <a:r>
                        <a:rPr lang="en-US" dirty="0"/>
                        <a:t>6 images + average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2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07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39D1-FBB2-06E9-20CA-2C8C7A4F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68E3AB92-C3C4-311C-C34F-52385A7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327" y="1369805"/>
            <a:ext cx="1440000" cy="2160000"/>
          </a:xfrm>
          <a:prstGeom prst="rect">
            <a:avLst/>
          </a:prstGeom>
        </p:spPr>
      </p:pic>
      <p:pic>
        <p:nvPicPr>
          <p:cNvPr id="5" name="Picture 4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888578F3-A720-03C1-06D9-2FB6B471E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903" y="1369805"/>
            <a:ext cx="1440000" cy="2160000"/>
          </a:xfrm>
          <a:prstGeom prst="rect">
            <a:avLst/>
          </a:prstGeom>
        </p:spPr>
      </p:pic>
      <p:pic>
        <p:nvPicPr>
          <p:cNvPr id="6" name="Picture 5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B8B55145-0D12-1B89-7763-F0AF30A2A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6903" y="3727974"/>
            <a:ext cx="1440000" cy="2160000"/>
          </a:xfrm>
          <a:prstGeom prst="rect">
            <a:avLst/>
          </a:prstGeom>
        </p:spPr>
      </p:pic>
      <p:pic>
        <p:nvPicPr>
          <p:cNvPr id="7" name="Picture 6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83D51A38-C8DC-6994-EC0E-ABA5C11BE7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966" y="1369805"/>
            <a:ext cx="1440000" cy="21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83A021-BABD-5549-D727-6B1D4E1DE2A0}"/>
              </a:ext>
            </a:extLst>
          </p:cNvPr>
          <p:cNvSpPr txBox="1"/>
          <p:nvPr/>
        </p:nvSpPr>
        <p:spPr>
          <a:xfrm>
            <a:off x="551725" y="2284694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Within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2F189-81E9-951F-E62F-9E5625021107}"/>
              </a:ext>
            </a:extLst>
          </p:cNvPr>
          <p:cNvSpPr txBox="1"/>
          <p:nvPr/>
        </p:nvSpPr>
        <p:spPr>
          <a:xfrm>
            <a:off x="435872" y="462343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Between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55D61E-B529-76E2-69C4-434B5FF3A552}"/>
              </a:ext>
            </a:extLst>
          </p:cNvPr>
          <p:cNvSpPr txBox="1"/>
          <p:nvPr/>
        </p:nvSpPr>
        <p:spPr>
          <a:xfrm>
            <a:off x="2631499" y="8221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Familiar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53D9B-3BEB-B8E7-8985-42841B652FEB}"/>
              </a:ext>
            </a:extLst>
          </p:cNvPr>
          <p:cNvSpPr txBox="1"/>
          <p:nvPr/>
        </p:nvSpPr>
        <p:spPr>
          <a:xfrm>
            <a:off x="6033113" y="822179"/>
            <a:ext cx="122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Unfamiliar</a:t>
            </a:r>
          </a:p>
        </p:txBody>
      </p:sp>
      <p:pic>
        <p:nvPicPr>
          <p:cNvPr id="12" name="Picture 11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8360D1AA-C759-B23B-B2C4-5787529E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076" y="3727974"/>
            <a:ext cx="1440000" cy="2160000"/>
          </a:xfrm>
          <a:prstGeom prst="rect">
            <a:avLst/>
          </a:prstGeom>
        </p:spPr>
      </p:pic>
      <p:pic>
        <p:nvPicPr>
          <p:cNvPr id="13" name="Picture 12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9225D966-C7D0-8A94-B184-98173F061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966" y="3727974"/>
            <a:ext cx="1440000" cy="2160000"/>
          </a:xfrm>
          <a:prstGeom prst="rect">
            <a:avLst/>
          </a:prstGeom>
        </p:spPr>
      </p:pic>
      <p:pic>
        <p:nvPicPr>
          <p:cNvPr id="14" name="Picture 13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A6D8D9C5-FE4D-4003-D566-1D5B261D2E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481" y="1369805"/>
            <a:ext cx="1440000" cy="2160000"/>
          </a:xfrm>
          <a:prstGeom prst="rect">
            <a:avLst/>
          </a:prstGeom>
        </p:spPr>
      </p:pic>
      <p:pic>
        <p:nvPicPr>
          <p:cNvPr id="15" name="Picture 14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7E6DE54A-A7B1-4ACC-61A5-7CB544812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6723" y="3727974"/>
            <a:ext cx="1440000" cy="2160000"/>
          </a:xfrm>
          <a:prstGeom prst="rect">
            <a:avLst/>
          </a:prstGeom>
        </p:spPr>
      </p:pic>
      <p:pic>
        <p:nvPicPr>
          <p:cNvPr id="16" name="Picture 15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5915AC49-D6D4-C43E-162F-C3928FED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539" y="3727974"/>
            <a:ext cx="1440000" cy="2160000"/>
          </a:xfrm>
          <a:prstGeom prst="rect">
            <a:avLst/>
          </a:prstGeom>
        </p:spPr>
      </p:pic>
      <p:pic>
        <p:nvPicPr>
          <p:cNvPr id="17" name="Picture 16" descr="A cut out of a person's face&#10;&#10;AI-generated content may be incorrect.">
            <a:extLst>
              <a:ext uri="{FF2B5EF4-FFF2-40B4-BE49-F238E27FC236}">
                <a16:creationId xmlns:a16="http://schemas.microsoft.com/office/drawing/2014/main" id="{8535416E-62EC-33B1-8CA4-5CB02ADCE1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6732" y="3727974"/>
            <a:ext cx="1440000" cy="216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6B8D81-B12F-78FC-35CE-2B05C2AB7AE1}"/>
              </a:ext>
            </a:extLst>
          </p:cNvPr>
          <p:cNvSpPr txBox="1"/>
          <p:nvPr/>
        </p:nvSpPr>
        <p:spPr>
          <a:xfrm>
            <a:off x="9231731" y="822179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Familiar-Unfamiliar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97D029-D274-60AC-6A08-AAFAA9FB5153}"/>
              </a:ext>
            </a:extLst>
          </p:cNvPr>
          <p:cNvCxnSpPr/>
          <p:nvPr/>
        </p:nvCxnSpPr>
        <p:spPr>
          <a:xfrm>
            <a:off x="435872" y="3628889"/>
            <a:ext cx="115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B3DF0A-3405-E2A3-BB30-6357F50B5088}"/>
              </a:ext>
            </a:extLst>
          </p:cNvPr>
          <p:cNvCxnSpPr>
            <a:cxnSpLocks/>
          </p:cNvCxnSpPr>
          <p:nvPr/>
        </p:nvCxnSpPr>
        <p:spPr>
          <a:xfrm>
            <a:off x="4889205" y="649805"/>
            <a:ext cx="0" cy="5760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DB8750-2CF0-C2F1-6E75-5BA38B8FE1B6}"/>
              </a:ext>
            </a:extLst>
          </p:cNvPr>
          <p:cNvCxnSpPr>
            <a:cxnSpLocks/>
          </p:cNvCxnSpPr>
          <p:nvPr/>
        </p:nvCxnSpPr>
        <p:spPr>
          <a:xfrm>
            <a:off x="8399215" y="649805"/>
            <a:ext cx="0" cy="5760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0285E4-15F8-0390-7FE2-8F85BCFD917F}"/>
              </a:ext>
            </a:extLst>
          </p:cNvPr>
          <p:cNvSpPr txBox="1"/>
          <p:nvPr/>
        </p:nvSpPr>
        <p:spPr>
          <a:xfrm>
            <a:off x="11149296" y="6399172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= 331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608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2627-A0E3-F28C-DA72-EE0B01829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474" y="1153160"/>
            <a:ext cx="11993526" cy="669851"/>
          </a:xfrm>
        </p:spPr>
        <p:txBody>
          <a:bodyPr numCol="2" spcCol="360000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hlinkClick r:id="rId2"/>
              </a:rPr>
              <a:t>Male Faces</a:t>
            </a: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hlinkClick r:id="rId3"/>
              </a:rPr>
              <a:t>Female Faces</a:t>
            </a:r>
            <a:endParaRPr lang="en-US" sz="3200" dirty="0"/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C2207-5C87-5D2B-F7F4-9AF3CEAC57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" y="1785796"/>
            <a:ext cx="5634990" cy="4094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028C99-8F72-AC99-2AD3-814063F6F3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907" y="1785796"/>
            <a:ext cx="5634710" cy="4094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0989EE-23BA-408A-D846-D8BCA29D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2" y="162522"/>
            <a:ext cx="10815083" cy="1325563"/>
          </a:xfrm>
        </p:spPr>
        <p:txBody>
          <a:bodyPr/>
          <a:lstStyle/>
          <a:p>
            <a:pPr algn="ctr"/>
            <a:r>
              <a:rPr lang="en-US" dirty="0"/>
              <a:t>Multidimensional Scaling</a:t>
            </a:r>
          </a:p>
        </p:txBody>
      </p:sp>
    </p:spTree>
    <p:extLst>
      <p:ext uri="{BB962C8B-B14F-4D97-AF65-F5344CB8AC3E}">
        <p14:creationId xmlns:p14="http://schemas.microsoft.com/office/powerpoint/2010/main" val="314805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3DDE-3A6E-5799-AE81-78DDCC48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5083" cy="1325563"/>
          </a:xfrm>
        </p:spPr>
        <p:txBody>
          <a:bodyPr/>
          <a:lstStyle/>
          <a:p>
            <a:r>
              <a:rPr lang="en-US" dirty="0"/>
              <a:t>Within-person distances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56D564-AFD1-A6F1-5C85-3803D55C747D}"/>
              </a:ext>
            </a:extLst>
          </p:cNvPr>
          <p:cNvGrpSpPr/>
          <p:nvPr/>
        </p:nvGrpSpPr>
        <p:grpSpPr>
          <a:xfrm>
            <a:off x="3859572" y="2430526"/>
            <a:ext cx="3969332" cy="3969332"/>
            <a:chOff x="828097" y="2449286"/>
            <a:chExt cx="3969332" cy="396933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5FCBF4-7D51-B306-F87F-DAA3F36FC821}"/>
                </a:ext>
              </a:extLst>
            </p:cNvPr>
            <p:cNvCxnSpPr/>
            <p:nvPr/>
          </p:nvCxnSpPr>
          <p:spPr>
            <a:xfrm>
              <a:off x="1197429" y="2449286"/>
              <a:ext cx="0" cy="360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7DEC42B-2424-95C7-F7B2-9BFD8BC18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7429" y="6038401"/>
              <a:ext cx="3600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F9767E-9357-9D80-CA00-7C3A100FA80C}"/>
                </a:ext>
              </a:extLst>
            </p:cNvPr>
            <p:cNvSpPr txBox="1"/>
            <p:nvPr/>
          </p:nvSpPr>
          <p:spPr>
            <a:xfrm>
              <a:off x="2280726" y="6049286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Dimension 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B26BCE-CE0B-79C5-A1FF-469F7177956C}"/>
                </a:ext>
              </a:extLst>
            </p:cNvPr>
            <p:cNvSpPr txBox="1"/>
            <p:nvPr/>
          </p:nvSpPr>
          <p:spPr>
            <a:xfrm rot="16200000">
              <a:off x="296060" y="4064620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Dimension 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274496-D209-BCBF-7DC8-4E6738EED4D7}"/>
              </a:ext>
            </a:extLst>
          </p:cNvPr>
          <p:cNvGrpSpPr/>
          <p:nvPr/>
        </p:nvGrpSpPr>
        <p:grpSpPr>
          <a:xfrm>
            <a:off x="4555475" y="2812310"/>
            <a:ext cx="778328" cy="652358"/>
            <a:chOff x="1524000" y="2831070"/>
            <a:chExt cx="778328" cy="652358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C0DA0D-E416-2286-F640-BB732608BA4E}"/>
                </a:ext>
              </a:extLst>
            </p:cNvPr>
            <p:cNvSpPr/>
            <p:nvPr/>
          </p:nvSpPr>
          <p:spPr>
            <a:xfrm>
              <a:off x="1687286" y="2950029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85E7C7C-B117-390B-0F29-76693B2465A5}"/>
                </a:ext>
              </a:extLst>
            </p:cNvPr>
            <p:cNvSpPr/>
            <p:nvPr/>
          </p:nvSpPr>
          <p:spPr>
            <a:xfrm>
              <a:off x="1741714" y="3156858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A64475D-473B-12AA-494A-7B91938BCABD}"/>
                </a:ext>
              </a:extLst>
            </p:cNvPr>
            <p:cNvSpPr/>
            <p:nvPr/>
          </p:nvSpPr>
          <p:spPr>
            <a:xfrm>
              <a:off x="1866900" y="3026228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5CE589-2F8A-C59B-C32E-317899F5091D}"/>
                </a:ext>
              </a:extLst>
            </p:cNvPr>
            <p:cNvSpPr/>
            <p:nvPr/>
          </p:nvSpPr>
          <p:spPr>
            <a:xfrm>
              <a:off x="1975757" y="3211286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851DAC1-B745-D74F-5A66-CE069BFBDECF}"/>
                </a:ext>
              </a:extLst>
            </p:cNvPr>
            <p:cNvSpPr/>
            <p:nvPr/>
          </p:nvSpPr>
          <p:spPr>
            <a:xfrm>
              <a:off x="2084614" y="2971799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AA19341-2F10-B135-543C-CFA016BA5D86}"/>
                </a:ext>
              </a:extLst>
            </p:cNvPr>
            <p:cNvSpPr/>
            <p:nvPr/>
          </p:nvSpPr>
          <p:spPr>
            <a:xfrm>
              <a:off x="1899556" y="2831070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5908F37-DD6C-2BB6-51C1-F90568F17A88}"/>
                </a:ext>
              </a:extLst>
            </p:cNvPr>
            <p:cNvSpPr/>
            <p:nvPr/>
          </p:nvSpPr>
          <p:spPr>
            <a:xfrm>
              <a:off x="2193471" y="3374571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4129EE7-19A9-4C4B-A9C4-0E53EDA160D2}"/>
                </a:ext>
              </a:extLst>
            </p:cNvPr>
            <p:cNvSpPr/>
            <p:nvPr/>
          </p:nvSpPr>
          <p:spPr>
            <a:xfrm>
              <a:off x="1524000" y="3135085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6C0DA8F-930F-33A6-1C19-EF63D49E8218}"/>
              </a:ext>
            </a:extLst>
          </p:cNvPr>
          <p:cNvGrpSpPr/>
          <p:nvPr/>
        </p:nvGrpSpPr>
        <p:grpSpPr>
          <a:xfrm>
            <a:off x="6386378" y="4071141"/>
            <a:ext cx="1137557" cy="1329161"/>
            <a:chOff x="3354903" y="4089901"/>
            <a:chExt cx="1137557" cy="1329161"/>
          </a:xfrm>
          <a:solidFill>
            <a:schemeClr val="accent6">
              <a:lumMod val="75000"/>
            </a:schemeClr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6845E5-0D99-6140-27D2-2522C26FDA1E}"/>
                </a:ext>
              </a:extLst>
            </p:cNvPr>
            <p:cNvSpPr/>
            <p:nvPr/>
          </p:nvSpPr>
          <p:spPr>
            <a:xfrm>
              <a:off x="3618264" y="4386621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A74733E-3DB7-3A88-B36A-9EF4135E1C29}"/>
                </a:ext>
              </a:extLst>
            </p:cNvPr>
            <p:cNvSpPr/>
            <p:nvPr/>
          </p:nvSpPr>
          <p:spPr>
            <a:xfrm>
              <a:off x="3893746" y="5170946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A5C2EEB-F07A-08C6-897B-3B8D6465E167}"/>
                </a:ext>
              </a:extLst>
            </p:cNvPr>
            <p:cNvSpPr/>
            <p:nvPr/>
          </p:nvSpPr>
          <p:spPr>
            <a:xfrm>
              <a:off x="4002603" y="4561346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ED68F6E-880B-64FA-8030-AF1F60033ABC}"/>
                </a:ext>
              </a:extLst>
            </p:cNvPr>
            <p:cNvSpPr/>
            <p:nvPr/>
          </p:nvSpPr>
          <p:spPr>
            <a:xfrm>
              <a:off x="3563835" y="4843590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751F999-D70D-EC6D-48BF-897F5C510F91}"/>
                </a:ext>
              </a:extLst>
            </p:cNvPr>
            <p:cNvSpPr/>
            <p:nvPr/>
          </p:nvSpPr>
          <p:spPr>
            <a:xfrm>
              <a:off x="4165888" y="5310205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248C694-2946-0FF9-0DF9-1FCB59020B68}"/>
                </a:ext>
              </a:extLst>
            </p:cNvPr>
            <p:cNvSpPr/>
            <p:nvPr/>
          </p:nvSpPr>
          <p:spPr>
            <a:xfrm>
              <a:off x="4111460" y="4089901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B1B24C-6F5D-3890-5800-96CF7AF8E1AA}"/>
                </a:ext>
              </a:extLst>
            </p:cNvPr>
            <p:cNvSpPr/>
            <p:nvPr/>
          </p:nvSpPr>
          <p:spPr>
            <a:xfrm>
              <a:off x="4383603" y="5006875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E6A9195-386F-D015-007E-714FE7BCEE08}"/>
                </a:ext>
              </a:extLst>
            </p:cNvPr>
            <p:cNvSpPr/>
            <p:nvPr/>
          </p:nvSpPr>
          <p:spPr>
            <a:xfrm>
              <a:off x="3354903" y="5310205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605B0958-9673-C25A-72DD-5414EA00B44C}"/>
              </a:ext>
            </a:extLst>
          </p:cNvPr>
          <p:cNvSpPr/>
          <p:nvPr/>
        </p:nvSpPr>
        <p:spPr>
          <a:xfrm>
            <a:off x="10516476" y="3567855"/>
            <a:ext cx="108857" cy="10885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34E09A8-9C57-2A0E-D000-E952DD26E28A}"/>
              </a:ext>
            </a:extLst>
          </p:cNvPr>
          <p:cNvSpPr/>
          <p:nvPr/>
        </p:nvSpPr>
        <p:spPr>
          <a:xfrm>
            <a:off x="10515881" y="3864058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E9835E-C4BA-CDE8-B968-0AEB2E4EEADD}"/>
              </a:ext>
            </a:extLst>
          </p:cNvPr>
          <p:cNvSpPr txBox="1"/>
          <p:nvPr/>
        </p:nvSpPr>
        <p:spPr>
          <a:xfrm>
            <a:off x="10580819" y="3425133"/>
            <a:ext cx="9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Familiar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300004-FF3B-FC82-2002-B53FA972F7FA}"/>
              </a:ext>
            </a:extLst>
          </p:cNvPr>
          <p:cNvSpPr txBox="1"/>
          <p:nvPr/>
        </p:nvSpPr>
        <p:spPr>
          <a:xfrm>
            <a:off x="10580819" y="3723310"/>
            <a:ext cx="122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Unfamiliar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9EC767B-0389-9DD7-B412-A783DDCF867D}"/>
              </a:ext>
            </a:extLst>
          </p:cNvPr>
          <p:cNvGrpSpPr/>
          <p:nvPr/>
        </p:nvGrpSpPr>
        <p:grpSpPr>
          <a:xfrm>
            <a:off x="4357004" y="2675407"/>
            <a:ext cx="3505200" cy="2882900"/>
            <a:chOff x="4268952" y="2546063"/>
            <a:chExt cx="3505200" cy="28829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FDCEF6-C44E-38D7-9270-AC700B5E9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52" y="2546063"/>
              <a:ext cx="3505200" cy="2882900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FE0340F-551D-BF6F-F974-B55257AF8210}"/>
                </a:ext>
              </a:extLst>
            </p:cNvPr>
            <p:cNvCxnSpPr/>
            <p:nvPr/>
          </p:nvCxnSpPr>
          <p:spPr>
            <a:xfrm flipH="1">
              <a:off x="5315762" y="3483428"/>
              <a:ext cx="493367" cy="435058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1AB2F27-E728-191E-BA6A-F0A263F8166A}"/>
                </a:ext>
              </a:extLst>
            </p:cNvPr>
            <p:cNvCxnSpPr>
              <a:cxnSpLocks/>
            </p:cNvCxnSpPr>
            <p:nvPr/>
          </p:nvCxnSpPr>
          <p:spPr>
            <a:xfrm>
              <a:off x="5849471" y="3425133"/>
              <a:ext cx="69457" cy="773625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72B7ED1-5116-0087-9F45-776EA80979F1}"/>
                </a:ext>
              </a:extLst>
            </p:cNvPr>
            <p:cNvCxnSpPr>
              <a:cxnSpLocks/>
            </p:cNvCxnSpPr>
            <p:nvPr/>
          </p:nvCxnSpPr>
          <p:spPr>
            <a:xfrm>
              <a:off x="5848201" y="3532583"/>
              <a:ext cx="556454" cy="71670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BED6E1D-0E12-C550-6B74-2BECF4EC347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171" y="3427626"/>
              <a:ext cx="1290082" cy="24405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27D400-F991-70F7-4387-512CE30EE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7902" y="3458691"/>
              <a:ext cx="785398" cy="118253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024158B-D57B-EC60-49C2-DF4F35757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230" y="3471278"/>
              <a:ext cx="367562" cy="127880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C313B4-0C70-EB2E-CE6C-38252DA1F037}"/>
              </a:ext>
            </a:extLst>
          </p:cNvPr>
          <p:cNvSpPr txBox="1"/>
          <p:nvPr/>
        </p:nvSpPr>
        <p:spPr>
          <a:xfrm>
            <a:off x="4497049" y="71353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8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D4B6-63EC-A987-0B9D-0BA7AB35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familiar faces more densely clustered? </a:t>
            </a:r>
            <a:r>
              <a:rPr lang="en-US" b="1" dirty="0"/>
              <a:t>Yes!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0A85-0DB1-9171-9CE0-904F22D7F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872" y="2073051"/>
            <a:ext cx="6979921" cy="55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Distance ~ Familiarity + (1 | Target Identity)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AAA0C2-29F2-6101-9A5F-551B1CCD0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454222"/>
              </p:ext>
            </p:extLst>
          </p:nvPr>
        </p:nvGraphicFramePr>
        <p:xfrm>
          <a:off x="552252" y="3429000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977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4155687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endParaRPr lang="en-US" sz="2500" b="1" dirty="0"/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1" dirty="0"/>
                        <a:t>b = </a:t>
                      </a:r>
                      <a:r>
                        <a:rPr lang="en-US" sz="2500" b="0" i="0" dirty="0"/>
                        <a:t>.07</a:t>
                      </a:r>
                      <a:r>
                        <a:rPr lang="en-US" sz="2500" b="0" i="1" dirty="0"/>
                        <a:t>, p = </a:t>
                      </a:r>
                      <a:r>
                        <a:rPr lang="en-US" sz="2500" b="0" i="0" dirty="0"/>
                        <a:t>.004</a:t>
                      </a:r>
                      <a:r>
                        <a:rPr lang="en-US" sz="2500" b="0" i="1" dirty="0"/>
                        <a:t>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36%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</a:t>
                      </a:r>
                      <a:r>
                        <a:rPr lang="en-US" sz="2500" i="0" dirty="0"/>
                        <a:t>.08</a:t>
                      </a:r>
                      <a:r>
                        <a:rPr lang="en-US" sz="2500" i="1" dirty="0"/>
                        <a:t>, p = </a:t>
                      </a:r>
                      <a:r>
                        <a:rPr lang="en-US" sz="2500" i="0" dirty="0"/>
                        <a:t>.03</a:t>
                      </a:r>
                      <a:r>
                        <a:rPr lang="en-US" sz="2500" i="1" dirty="0"/>
                        <a:t>, 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31%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25%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8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FA39-0C65-38CD-D972-8EC4D227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831D-BF62-CCC7-1474-2B809E23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familiar faces more densely clustered? </a:t>
            </a:r>
            <a:r>
              <a:rPr lang="en-US" b="1" dirty="0"/>
              <a:t>Yes!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BB45D-7A55-0155-8CEA-9C18B73C3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872" y="2073051"/>
            <a:ext cx="6979921" cy="55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Distance ~ Familiarity + (1 | Target Identity)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9F8A8E-048A-93FC-7B53-4F412D05B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271656"/>
              </p:ext>
            </p:extLst>
          </p:nvPr>
        </p:nvGraphicFramePr>
        <p:xfrm>
          <a:off x="552252" y="3429000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977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4155687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endParaRPr lang="en-US" sz="2500" b="1" dirty="0"/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1" dirty="0"/>
                        <a:t>b = </a:t>
                      </a:r>
                      <a:r>
                        <a:rPr lang="en-US" sz="2500" b="0" i="0" dirty="0"/>
                        <a:t>.07</a:t>
                      </a:r>
                      <a:r>
                        <a:rPr lang="en-US" sz="2500" b="0" i="1" dirty="0"/>
                        <a:t>, p = </a:t>
                      </a:r>
                      <a:r>
                        <a:rPr lang="en-US" sz="2500" b="0" i="0" dirty="0"/>
                        <a:t>.004</a:t>
                      </a:r>
                      <a:r>
                        <a:rPr lang="en-US" sz="2500" b="0" i="1" dirty="0"/>
                        <a:t>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36%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</a:t>
                      </a:r>
                      <a:r>
                        <a:rPr lang="en-US" sz="2500" i="0" dirty="0"/>
                        <a:t>.08</a:t>
                      </a:r>
                      <a:r>
                        <a:rPr lang="en-US" sz="2500" i="1" dirty="0"/>
                        <a:t>, p = </a:t>
                      </a:r>
                      <a:r>
                        <a:rPr lang="en-US" sz="2500" i="0" dirty="0"/>
                        <a:t>.03</a:t>
                      </a:r>
                      <a:r>
                        <a:rPr lang="en-US" sz="2500" i="1" dirty="0"/>
                        <a:t>, 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31%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25%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438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B0A1-15AB-BE26-1400-B195E2D0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Between-people distances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96E581-E26B-C7B0-0DFF-D38D79120F2A}"/>
              </a:ext>
            </a:extLst>
          </p:cNvPr>
          <p:cNvGrpSpPr/>
          <p:nvPr/>
        </p:nvGrpSpPr>
        <p:grpSpPr>
          <a:xfrm>
            <a:off x="3847310" y="2337405"/>
            <a:ext cx="3969332" cy="3969332"/>
            <a:chOff x="828097" y="2449286"/>
            <a:chExt cx="3969332" cy="396933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247223-E019-7EED-BB12-21CD59C6D1C0}"/>
                </a:ext>
              </a:extLst>
            </p:cNvPr>
            <p:cNvCxnSpPr/>
            <p:nvPr/>
          </p:nvCxnSpPr>
          <p:spPr>
            <a:xfrm>
              <a:off x="1197429" y="2449286"/>
              <a:ext cx="0" cy="360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43D0FF-A29A-87B1-148B-B1535F1444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7429" y="6038401"/>
              <a:ext cx="3600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866ADD-E4C2-6A5B-8A35-DF933B0ED632}"/>
                </a:ext>
              </a:extLst>
            </p:cNvPr>
            <p:cNvSpPr txBox="1"/>
            <p:nvPr/>
          </p:nvSpPr>
          <p:spPr>
            <a:xfrm>
              <a:off x="2280726" y="6049286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Dimension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6EE7E3-5DB3-D019-D7D8-3CC3193E0FD4}"/>
                </a:ext>
              </a:extLst>
            </p:cNvPr>
            <p:cNvSpPr txBox="1"/>
            <p:nvPr/>
          </p:nvSpPr>
          <p:spPr>
            <a:xfrm rot="16200000">
              <a:off x="296060" y="4064620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Dimension 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AF645A-EA0E-B396-50EE-C4EFC6403DDA}"/>
              </a:ext>
            </a:extLst>
          </p:cNvPr>
          <p:cNvGrpSpPr/>
          <p:nvPr/>
        </p:nvGrpSpPr>
        <p:grpSpPr>
          <a:xfrm>
            <a:off x="4543213" y="2719189"/>
            <a:ext cx="778328" cy="652358"/>
            <a:chOff x="1524000" y="2831070"/>
            <a:chExt cx="778328" cy="652358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59FDB22-426A-3BC4-C785-E2F53BD4609D}"/>
                </a:ext>
              </a:extLst>
            </p:cNvPr>
            <p:cNvSpPr/>
            <p:nvPr/>
          </p:nvSpPr>
          <p:spPr>
            <a:xfrm>
              <a:off x="1687286" y="2950029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DFDB81-20D3-34F5-7437-F917A79DD7A0}"/>
                </a:ext>
              </a:extLst>
            </p:cNvPr>
            <p:cNvSpPr/>
            <p:nvPr/>
          </p:nvSpPr>
          <p:spPr>
            <a:xfrm>
              <a:off x="1741714" y="3156858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FB00EF-2DA5-A2A1-52C6-70BC9CE2413B}"/>
                </a:ext>
              </a:extLst>
            </p:cNvPr>
            <p:cNvSpPr/>
            <p:nvPr/>
          </p:nvSpPr>
          <p:spPr>
            <a:xfrm>
              <a:off x="1866900" y="3026228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6D6EA02-F8B5-967E-EC08-76F5A847656E}"/>
                </a:ext>
              </a:extLst>
            </p:cNvPr>
            <p:cNvSpPr/>
            <p:nvPr/>
          </p:nvSpPr>
          <p:spPr>
            <a:xfrm>
              <a:off x="1975757" y="3211286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7038FE-025A-B90D-4426-171FF3A3A8AB}"/>
                </a:ext>
              </a:extLst>
            </p:cNvPr>
            <p:cNvSpPr/>
            <p:nvPr/>
          </p:nvSpPr>
          <p:spPr>
            <a:xfrm>
              <a:off x="2084614" y="2971799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F300673-E77E-B313-871A-0ABBBD7D2710}"/>
                </a:ext>
              </a:extLst>
            </p:cNvPr>
            <p:cNvSpPr/>
            <p:nvPr/>
          </p:nvSpPr>
          <p:spPr>
            <a:xfrm>
              <a:off x="1899556" y="2831070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4AAF22-3AED-6834-2C1B-0A2533DF0049}"/>
                </a:ext>
              </a:extLst>
            </p:cNvPr>
            <p:cNvSpPr/>
            <p:nvPr/>
          </p:nvSpPr>
          <p:spPr>
            <a:xfrm>
              <a:off x="2193471" y="3374571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AFF60E-3766-ADCD-BF8B-ACED3307FC1F}"/>
                </a:ext>
              </a:extLst>
            </p:cNvPr>
            <p:cNvSpPr/>
            <p:nvPr/>
          </p:nvSpPr>
          <p:spPr>
            <a:xfrm>
              <a:off x="1524000" y="3135085"/>
              <a:ext cx="108857" cy="10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A4752161-3A05-8220-8F61-18DD1A3C7D24}"/>
              </a:ext>
            </a:extLst>
          </p:cNvPr>
          <p:cNvSpPr/>
          <p:nvPr/>
        </p:nvSpPr>
        <p:spPr>
          <a:xfrm>
            <a:off x="6351296" y="4000649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F3F0AB-D634-62D9-F0FD-7DB628362661}"/>
              </a:ext>
            </a:extLst>
          </p:cNvPr>
          <p:cNvSpPr/>
          <p:nvPr/>
        </p:nvSpPr>
        <p:spPr>
          <a:xfrm>
            <a:off x="6912959" y="5059065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E469B5-A81E-3CC8-493F-90E1C3763D7D}"/>
              </a:ext>
            </a:extLst>
          </p:cNvPr>
          <p:cNvSpPr/>
          <p:nvPr/>
        </p:nvSpPr>
        <p:spPr>
          <a:xfrm>
            <a:off x="7021816" y="4449465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BD31BB9-63A8-6D7A-B980-7388C1BE8D7A}"/>
              </a:ext>
            </a:extLst>
          </p:cNvPr>
          <p:cNvSpPr/>
          <p:nvPr/>
        </p:nvSpPr>
        <p:spPr>
          <a:xfrm>
            <a:off x="6588118" y="4573373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893509D-4454-F9A0-A54A-F7EC1E6BFE68}"/>
              </a:ext>
            </a:extLst>
          </p:cNvPr>
          <p:cNvSpPr/>
          <p:nvPr/>
        </p:nvSpPr>
        <p:spPr>
          <a:xfrm>
            <a:off x="7185101" y="5198324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30206BC-A305-7AFD-A5F6-453C327BF32F}"/>
              </a:ext>
            </a:extLst>
          </p:cNvPr>
          <p:cNvSpPr/>
          <p:nvPr/>
        </p:nvSpPr>
        <p:spPr>
          <a:xfrm>
            <a:off x="7130673" y="3978020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CBA68E-39CB-DB67-5899-4988468ECC31}"/>
              </a:ext>
            </a:extLst>
          </p:cNvPr>
          <p:cNvSpPr/>
          <p:nvPr/>
        </p:nvSpPr>
        <p:spPr>
          <a:xfrm>
            <a:off x="7170419" y="3162130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7BCA573-A930-44FF-6F15-5DCE98722567}"/>
              </a:ext>
            </a:extLst>
          </p:cNvPr>
          <p:cNvSpPr/>
          <p:nvPr/>
        </p:nvSpPr>
        <p:spPr>
          <a:xfrm>
            <a:off x="6374116" y="5198324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78A8FE-61DF-4CD9-1518-3DDF757232FB}"/>
              </a:ext>
            </a:extLst>
          </p:cNvPr>
          <p:cNvSpPr/>
          <p:nvPr/>
        </p:nvSpPr>
        <p:spPr>
          <a:xfrm>
            <a:off x="10756019" y="3797284"/>
            <a:ext cx="108857" cy="10885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F16355A-8E38-82FD-31BA-28B575A44B08}"/>
              </a:ext>
            </a:extLst>
          </p:cNvPr>
          <p:cNvSpPr/>
          <p:nvPr/>
        </p:nvSpPr>
        <p:spPr>
          <a:xfrm>
            <a:off x="10755424" y="4093487"/>
            <a:ext cx="108857" cy="10885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FB4945-8D72-6159-D8F1-574661BC565A}"/>
              </a:ext>
            </a:extLst>
          </p:cNvPr>
          <p:cNvSpPr txBox="1"/>
          <p:nvPr/>
        </p:nvSpPr>
        <p:spPr>
          <a:xfrm>
            <a:off x="10820362" y="3654562"/>
            <a:ext cx="9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Familiar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5DF4D5-386C-88A6-1DEE-045C141CC163}"/>
              </a:ext>
            </a:extLst>
          </p:cNvPr>
          <p:cNvSpPr txBox="1"/>
          <p:nvPr/>
        </p:nvSpPr>
        <p:spPr>
          <a:xfrm>
            <a:off x="10820362" y="3952739"/>
            <a:ext cx="122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Unfamiliar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DBB873-5B30-A558-FC73-C9EC61AB063D}"/>
              </a:ext>
            </a:extLst>
          </p:cNvPr>
          <p:cNvGrpSpPr/>
          <p:nvPr/>
        </p:nvGrpSpPr>
        <p:grpSpPr>
          <a:xfrm>
            <a:off x="4585975" y="4784660"/>
            <a:ext cx="682135" cy="645655"/>
            <a:chOff x="1598294" y="4929466"/>
            <a:chExt cx="682135" cy="64565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1" name="Triangle 30">
              <a:extLst>
                <a:ext uri="{FF2B5EF4-FFF2-40B4-BE49-F238E27FC236}">
                  <a16:creationId xmlns:a16="http://schemas.microsoft.com/office/drawing/2014/main" id="{FE982824-FD0E-1DE1-99C0-EE33EB21ED94}"/>
                </a:ext>
              </a:extLst>
            </p:cNvPr>
            <p:cNvSpPr/>
            <p:nvPr/>
          </p:nvSpPr>
          <p:spPr>
            <a:xfrm>
              <a:off x="1598294" y="5179057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riangle 31">
              <a:extLst>
                <a:ext uri="{FF2B5EF4-FFF2-40B4-BE49-F238E27FC236}">
                  <a16:creationId xmlns:a16="http://schemas.microsoft.com/office/drawing/2014/main" id="{7F4ABC53-095B-D50E-F4B5-425B5E73682B}"/>
                </a:ext>
              </a:extLst>
            </p:cNvPr>
            <p:cNvSpPr/>
            <p:nvPr/>
          </p:nvSpPr>
          <p:spPr>
            <a:xfrm>
              <a:off x="1814002" y="5101360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8BA22389-D1CA-3E46-B1F8-CE4B12C66051}"/>
                </a:ext>
              </a:extLst>
            </p:cNvPr>
            <p:cNvSpPr/>
            <p:nvPr/>
          </p:nvSpPr>
          <p:spPr>
            <a:xfrm>
              <a:off x="1869429" y="4929466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riangle 33">
              <a:extLst>
                <a:ext uri="{FF2B5EF4-FFF2-40B4-BE49-F238E27FC236}">
                  <a16:creationId xmlns:a16="http://schemas.microsoft.com/office/drawing/2014/main" id="{14C31A6C-1E22-65E8-908A-642C07B31E31}"/>
                </a:ext>
              </a:extLst>
            </p:cNvPr>
            <p:cNvSpPr/>
            <p:nvPr/>
          </p:nvSpPr>
          <p:spPr>
            <a:xfrm>
              <a:off x="1951989" y="5252290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EBC1AB52-FB1A-35C6-4D1A-E27690DB60B4}"/>
                </a:ext>
              </a:extLst>
            </p:cNvPr>
            <p:cNvSpPr/>
            <p:nvPr/>
          </p:nvSpPr>
          <p:spPr>
            <a:xfrm>
              <a:off x="1764426" y="5338984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A86D2FB0-2098-8F16-6F0F-7EA074564389}"/>
                </a:ext>
              </a:extLst>
            </p:cNvPr>
            <p:cNvSpPr/>
            <p:nvPr/>
          </p:nvSpPr>
          <p:spPr>
            <a:xfrm>
              <a:off x="1993332" y="5480528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500B2777-51F6-CD8B-EF5A-BBA1495A19EE}"/>
                </a:ext>
              </a:extLst>
            </p:cNvPr>
            <p:cNvSpPr/>
            <p:nvPr/>
          </p:nvSpPr>
          <p:spPr>
            <a:xfrm>
              <a:off x="2104389" y="5404690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641905E3-0537-979C-4048-994B3CE65CE2}"/>
                </a:ext>
              </a:extLst>
            </p:cNvPr>
            <p:cNvSpPr/>
            <p:nvPr/>
          </p:nvSpPr>
          <p:spPr>
            <a:xfrm>
              <a:off x="2170701" y="5213143"/>
              <a:ext cx="109728" cy="945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riangle 40">
            <a:extLst>
              <a:ext uri="{FF2B5EF4-FFF2-40B4-BE49-F238E27FC236}">
                <a16:creationId xmlns:a16="http://schemas.microsoft.com/office/drawing/2014/main" id="{4ED0B6A0-B3B6-E5DA-ACB7-A0C7F6ABBE77}"/>
              </a:ext>
            </a:extLst>
          </p:cNvPr>
          <p:cNvSpPr/>
          <p:nvPr/>
        </p:nvSpPr>
        <p:spPr>
          <a:xfrm>
            <a:off x="6133865" y="3420702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1799430-3912-87F8-62D5-EC26912E3B6C}"/>
              </a:ext>
            </a:extLst>
          </p:cNvPr>
          <p:cNvSpPr/>
          <p:nvPr/>
        </p:nvSpPr>
        <p:spPr>
          <a:xfrm>
            <a:off x="5749467" y="4939658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C358D45F-2AB4-C932-EF19-BBEB36B811E7}"/>
              </a:ext>
            </a:extLst>
          </p:cNvPr>
          <p:cNvSpPr/>
          <p:nvPr/>
        </p:nvSpPr>
        <p:spPr>
          <a:xfrm>
            <a:off x="6622431" y="3607448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DBB7473B-E1E4-6BA5-122F-7AF211680003}"/>
              </a:ext>
            </a:extLst>
          </p:cNvPr>
          <p:cNvSpPr/>
          <p:nvPr/>
        </p:nvSpPr>
        <p:spPr>
          <a:xfrm>
            <a:off x="7021816" y="5259883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C667A4C6-7449-5320-B0C1-69B7994C6775}"/>
              </a:ext>
            </a:extLst>
          </p:cNvPr>
          <p:cNvSpPr/>
          <p:nvPr/>
        </p:nvSpPr>
        <p:spPr>
          <a:xfrm>
            <a:off x="6351296" y="4419632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41B1074A-611A-4E26-8068-E056ED927A1F}"/>
              </a:ext>
            </a:extLst>
          </p:cNvPr>
          <p:cNvSpPr/>
          <p:nvPr/>
        </p:nvSpPr>
        <p:spPr>
          <a:xfrm>
            <a:off x="6739583" y="4364110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riangle 46">
            <a:extLst>
              <a:ext uri="{FF2B5EF4-FFF2-40B4-BE49-F238E27FC236}">
                <a16:creationId xmlns:a16="http://schemas.microsoft.com/office/drawing/2014/main" id="{8204B6B0-12A5-E09E-3517-9DF4D574C3E7}"/>
              </a:ext>
            </a:extLst>
          </p:cNvPr>
          <p:cNvSpPr/>
          <p:nvPr/>
        </p:nvSpPr>
        <p:spPr>
          <a:xfrm>
            <a:off x="6857391" y="4082672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riangle 47">
            <a:extLst>
              <a:ext uri="{FF2B5EF4-FFF2-40B4-BE49-F238E27FC236}">
                <a16:creationId xmlns:a16="http://schemas.microsoft.com/office/drawing/2014/main" id="{E656C46A-67FD-E25C-A0E4-AE2EA2965DC1}"/>
              </a:ext>
            </a:extLst>
          </p:cNvPr>
          <p:cNvSpPr/>
          <p:nvPr/>
        </p:nvSpPr>
        <p:spPr>
          <a:xfrm>
            <a:off x="7360843" y="4210128"/>
            <a:ext cx="109728" cy="945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riangle 85">
            <a:extLst>
              <a:ext uri="{FF2B5EF4-FFF2-40B4-BE49-F238E27FC236}">
                <a16:creationId xmlns:a16="http://schemas.microsoft.com/office/drawing/2014/main" id="{47A5CDF2-EAB0-6AA3-24D6-40CEFF75DCD5}"/>
              </a:ext>
            </a:extLst>
          </p:cNvPr>
          <p:cNvSpPr/>
          <p:nvPr/>
        </p:nvSpPr>
        <p:spPr>
          <a:xfrm>
            <a:off x="10610264" y="4087529"/>
            <a:ext cx="108006" cy="108857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riangle 86">
            <a:extLst>
              <a:ext uri="{FF2B5EF4-FFF2-40B4-BE49-F238E27FC236}">
                <a16:creationId xmlns:a16="http://schemas.microsoft.com/office/drawing/2014/main" id="{EE47306C-268A-A9C8-A449-EDF057952510}"/>
              </a:ext>
            </a:extLst>
          </p:cNvPr>
          <p:cNvSpPr/>
          <p:nvPr/>
        </p:nvSpPr>
        <p:spPr>
          <a:xfrm>
            <a:off x="10610264" y="3791931"/>
            <a:ext cx="109728" cy="94593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657199E-A648-54B5-3F1C-85C9D7DF8A30}"/>
              </a:ext>
            </a:extLst>
          </p:cNvPr>
          <p:cNvGrpSpPr/>
          <p:nvPr/>
        </p:nvGrpSpPr>
        <p:grpSpPr>
          <a:xfrm>
            <a:off x="316240" y="1293055"/>
            <a:ext cx="5647857" cy="5089693"/>
            <a:chOff x="3164516" y="1407892"/>
            <a:chExt cx="5647857" cy="50896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D4C7A69-D43A-44C9-EE75-5B7BCCDD2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4516" y="1407892"/>
              <a:ext cx="5647857" cy="5089693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9C6815-CE5C-EA77-EC4C-071F7BFD38E3}"/>
                </a:ext>
              </a:extLst>
            </p:cNvPr>
            <p:cNvCxnSpPr/>
            <p:nvPr/>
          </p:nvCxnSpPr>
          <p:spPr>
            <a:xfrm flipV="1">
              <a:off x="5238974" y="4772607"/>
              <a:ext cx="258184" cy="632082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47C152-65C4-1326-A676-4E454182A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0459" y="4508916"/>
              <a:ext cx="256699" cy="88787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5BCDC27-5422-D5F3-0E30-ED63DFBD1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326" y="4322071"/>
              <a:ext cx="489695" cy="107471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69E4F9-F284-8506-4C76-00786BAF1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3675" y="4145455"/>
              <a:ext cx="854535" cy="128128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8715D0-3BF7-53F4-372A-B8A2A381A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8656" y="4227478"/>
              <a:ext cx="551510" cy="119060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48A9E-6859-BFE3-AA3B-61A3CE51EC4F}"/>
                </a:ext>
              </a:extLst>
            </p:cNvPr>
            <p:cNvCxnSpPr>
              <a:cxnSpLocks/>
            </p:cNvCxnSpPr>
            <p:nvPr/>
          </p:nvCxnSpPr>
          <p:spPr>
            <a:xfrm>
              <a:off x="5247733" y="5431073"/>
              <a:ext cx="1856333" cy="18441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0CB6C28-9C57-CFD5-8C92-6CF25BE5E1DD}"/>
                </a:ext>
              </a:extLst>
            </p:cNvPr>
            <p:cNvCxnSpPr>
              <a:cxnSpLocks/>
            </p:cNvCxnSpPr>
            <p:nvPr/>
          </p:nvCxnSpPr>
          <p:spPr>
            <a:xfrm>
              <a:off x="5240459" y="5429170"/>
              <a:ext cx="2219796" cy="9216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E16008-B79B-8D81-38F4-21ACDF22BA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2253" y="5335015"/>
              <a:ext cx="2216334" cy="7495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D4E872B-0199-AB62-3BFA-956B3F813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3675" y="5404689"/>
              <a:ext cx="2497310" cy="1964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23155D-79A2-0D17-4AD7-9DB563817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6810" y="5258299"/>
              <a:ext cx="2428412" cy="178278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02A123-5FD9-29CC-A3C1-0809D5BB4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663" y="5195953"/>
              <a:ext cx="2647037" cy="231956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0F89F2-6378-3CB4-DC04-D0054C414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7309" y="5111148"/>
              <a:ext cx="2416449" cy="30789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4908C1-9D63-4ABE-1E3B-D36588AB1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0459" y="3445379"/>
              <a:ext cx="2363962" cy="200472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281FDB3-B021-86BF-C2D9-062F2F2BB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3901" y="3551363"/>
              <a:ext cx="2709025" cy="183269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1D19E1-65CF-84A1-081C-67A27E160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5530" y="3401527"/>
              <a:ext cx="2720838" cy="1995735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99B1EFA-F066-81F0-40AB-CE7DDC0E96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8542" y="3180001"/>
              <a:ext cx="2487843" cy="221755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B79145-EEC8-7FF0-F34D-038757886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9817" y="3361364"/>
              <a:ext cx="2477155" cy="208874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9EB40C-BB11-FE6D-5EE1-A29512092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9230" y="3263362"/>
              <a:ext cx="2088262" cy="215740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09D53B-C80A-5811-8D3F-BB92DBDE7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3407" y="3106374"/>
              <a:ext cx="2639282" cy="2240816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40783B-4F04-FD6B-1665-3C138C32F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3138" y="3064668"/>
              <a:ext cx="1744754" cy="234915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3851BDB-28A6-D62C-E181-666AB1F99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170" y="2993439"/>
              <a:ext cx="1657920" cy="2433305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7BBA616-0678-E831-FC35-D2C16F22F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248" y="2713780"/>
              <a:ext cx="2028449" cy="2683451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25919E-B1CF-DC74-0247-65329B2B0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4311" y="2619625"/>
              <a:ext cx="1838586" cy="2800621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4FA59BD-5013-F9CD-3D6C-6AE49950D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3407" y="2615535"/>
              <a:ext cx="1646851" cy="283457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AD15281-88FA-9835-4DAA-286B9C17C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590" y="2076410"/>
              <a:ext cx="1616782" cy="315996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09DAF1A-8CA2-3F2B-EE5A-9D81A92CD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5762" y="1806021"/>
              <a:ext cx="1597700" cy="358266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C8061B-AE07-38B4-7BFC-B653CC5A6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2822" y="2908237"/>
              <a:ext cx="1005319" cy="2494026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D03FCD-B279-B56C-F504-1F8198580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4305" y="2820068"/>
              <a:ext cx="868497" cy="251965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C29EA-FAC0-BE01-C665-E8974FA38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4827" y="2596261"/>
              <a:ext cx="898630" cy="275559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DBCCF3-B195-E33D-A58B-30A0BCDBEC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5623" y="2502106"/>
              <a:ext cx="910841" cy="2955585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2188F88-00AD-AA8A-D3F2-08AA237A28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0190" y="2251231"/>
              <a:ext cx="852984" cy="3131081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5447CE4-7433-3C05-B844-6DBD511C9B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539" y="1941563"/>
              <a:ext cx="927865" cy="3485602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B9FE450-9425-025C-BB25-5101C85D9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2353" y="3565508"/>
              <a:ext cx="146189" cy="189218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56FD43-D6A3-68EB-F3D7-50E5864AA6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5838" y="3597354"/>
              <a:ext cx="247098" cy="181908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E941627-645F-C422-EC48-129B0B881D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1284" y="3569608"/>
              <a:ext cx="290521" cy="1850638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23D8067-0DF8-322C-E34E-A8E338AD99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17515" y="3415793"/>
              <a:ext cx="443268" cy="202838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721463-6F33-FC48-4821-EB1A20DB7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7383" y="3580077"/>
              <a:ext cx="582437" cy="1870031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898487B-8749-776C-241F-ECB9F5198B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4862" y="3351224"/>
              <a:ext cx="829208" cy="2070925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139AD30-91E8-4934-57B4-14D96DEC96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598" y="3141698"/>
              <a:ext cx="845374" cy="227212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88F4833-31DC-563C-BE44-C33B9D8AB1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7653" y="2984091"/>
              <a:ext cx="640080" cy="242588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B2C1D2B-3A2C-D15F-F618-F9733F05CC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628" y="2575463"/>
              <a:ext cx="1057767" cy="2806849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19BAAB-0813-2954-0978-C4178FB408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99981" y="2733455"/>
              <a:ext cx="1149825" cy="2655233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4569275-7583-70D0-D874-55960AA08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6469" y="3097978"/>
              <a:ext cx="1202524" cy="2320107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3A2A34EE-7492-0753-B6F1-CCE3B08B1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54" y="1290329"/>
            <a:ext cx="5647857" cy="508969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32F187-C815-E663-B347-A9E796F629C4}"/>
              </a:ext>
            </a:extLst>
          </p:cNvPr>
          <p:cNvCxnSpPr/>
          <p:nvPr/>
        </p:nvCxnSpPr>
        <p:spPr>
          <a:xfrm flipV="1">
            <a:off x="8329012" y="4655044"/>
            <a:ext cx="258184" cy="63208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8A54BF4-F74E-89D6-7AC8-13BBF385776D}"/>
              </a:ext>
            </a:extLst>
          </p:cNvPr>
          <p:cNvCxnSpPr>
            <a:cxnSpLocks/>
          </p:cNvCxnSpPr>
          <p:nvPr/>
        </p:nvCxnSpPr>
        <p:spPr>
          <a:xfrm flipV="1">
            <a:off x="8330497" y="4391353"/>
            <a:ext cx="256699" cy="88787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024B687-D014-72F9-C230-7F41EECAC5FB}"/>
              </a:ext>
            </a:extLst>
          </p:cNvPr>
          <p:cNvCxnSpPr>
            <a:cxnSpLocks/>
          </p:cNvCxnSpPr>
          <p:nvPr/>
        </p:nvCxnSpPr>
        <p:spPr>
          <a:xfrm flipV="1">
            <a:off x="8332364" y="4204508"/>
            <a:ext cx="489695" cy="107471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59F7A1-5216-3488-2414-8967A8DDB6B7}"/>
              </a:ext>
            </a:extLst>
          </p:cNvPr>
          <p:cNvCxnSpPr>
            <a:cxnSpLocks/>
          </p:cNvCxnSpPr>
          <p:nvPr/>
        </p:nvCxnSpPr>
        <p:spPr>
          <a:xfrm flipV="1">
            <a:off x="8323713" y="4027892"/>
            <a:ext cx="854535" cy="128128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E008A92-F181-3E8E-1ED4-0B63D91A8C6C}"/>
              </a:ext>
            </a:extLst>
          </p:cNvPr>
          <p:cNvCxnSpPr>
            <a:cxnSpLocks/>
          </p:cNvCxnSpPr>
          <p:nvPr/>
        </p:nvCxnSpPr>
        <p:spPr>
          <a:xfrm flipV="1">
            <a:off x="8358694" y="4109915"/>
            <a:ext cx="551510" cy="119060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E943D33-668A-BF8A-89F6-60240C48A987}"/>
              </a:ext>
            </a:extLst>
          </p:cNvPr>
          <p:cNvSpPr txBox="1"/>
          <p:nvPr/>
        </p:nvSpPr>
        <p:spPr>
          <a:xfrm>
            <a:off x="1561709" y="701641"/>
            <a:ext cx="3400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Global Expansion Model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E2D7DC-537A-618C-8C78-5F95B1E95939}"/>
              </a:ext>
            </a:extLst>
          </p:cNvPr>
          <p:cNvSpPr txBox="1"/>
          <p:nvPr/>
        </p:nvSpPr>
        <p:spPr>
          <a:xfrm>
            <a:off x="7556361" y="696818"/>
            <a:ext cx="3243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Local Expansion Model</a:t>
            </a:r>
          </a:p>
        </p:txBody>
      </p:sp>
    </p:spTree>
    <p:extLst>
      <p:ext uri="{BB962C8B-B14F-4D97-AF65-F5344CB8AC3E}">
        <p14:creationId xmlns:p14="http://schemas.microsoft.com/office/powerpoint/2010/main" val="176036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1C82-71C5-5ADE-06A2-22566C52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F357-2EAD-BF17-229B-BD1AA986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familiar faces further from others? </a:t>
            </a:r>
            <a:r>
              <a:rPr lang="en-US" b="1" dirty="0"/>
              <a:t>Not really…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3E36E-9C9C-9F79-BE54-057039B5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039" y="1804548"/>
            <a:ext cx="6979921" cy="55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Distance ~ Familiarity + (1 | Target Identity)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6070B7-3446-94CA-BD88-C25DB21BDA0C}"/>
              </a:ext>
            </a:extLst>
          </p:cNvPr>
          <p:cNvGraphicFramePr>
            <a:graphicFrameLocks noGrp="1"/>
          </p:cNvGraphicFramePr>
          <p:nvPr/>
        </p:nvGraphicFramePr>
        <p:xfrm>
          <a:off x="397872" y="2470224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832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Global Expansion</a:t>
                      </a:r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i="1" dirty="0"/>
                        <a:t>b = -</a:t>
                      </a:r>
                      <a:r>
                        <a:rPr lang="en-US" sz="2500" i="0" dirty="0"/>
                        <a:t>.08,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26%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-</a:t>
                      </a:r>
                      <a:r>
                        <a:rPr lang="en-US" sz="2500" i="0" dirty="0"/>
                        <a:t>.01,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.3%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47%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55%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3F982A-A927-E8A8-9743-F18DDB151CD2}"/>
              </a:ext>
            </a:extLst>
          </p:cNvPr>
          <p:cNvGraphicFramePr>
            <a:graphicFrameLocks noGrp="1"/>
          </p:cNvGraphicFramePr>
          <p:nvPr/>
        </p:nvGraphicFramePr>
        <p:xfrm>
          <a:off x="397872" y="4615496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832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Local Expansion</a:t>
                      </a:r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i="1" dirty="0"/>
                        <a:t>b = </a:t>
                      </a:r>
                      <a:r>
                        <a:rPr lang="en-US" sz="2500" i="0" dirty="0"/>
                        <a:t>.02,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4%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.</a:t>
                      </a:r>
                      <a:r>
                        <a:rPr lang="en-US" sz="2500" i="0" dirty="0"/>
                        <a:t>03,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.6%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62%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88%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23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C7321-0AAB-6D61-A408-5E9388B3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9A62-7F87-AC63-032B-58859368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familiar faces further from others? </a:t>
            </a:r>
            <a:r>
              <a:rPr lang="en-US" b="1" dirty="0"/>
              <a:t>Not really…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E138-11AC-1455-7F08-601640BC2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039" y="1804548"/>
            <a:ext cx="6979921" cy="55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Distance ~ Familiarity + (1 | Target Identity)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150281-666A-80BA-A886-CE4ADFCBD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79342"/>
              </p:ext>
            </p:extLst>
          </p:nvPr>
        </p:nvGraphicFramePr>
        <p:xfrm>
          <a:off x="397872" y="2470224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832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Global Expansion</a:t>
                      </a:r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i="1" dirty="0"/>
                        <a:t>b = -</a:t>
                      </a:r>
                      <a:r>
                        <a:rPr lang="en-US" sz="2500" i="0" dirty="0"/>
                        <a:t>.08,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26%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-</a:t>
                      </a:r>
                      <a:r>
                        <a:rPr lang="en-US" sz="2500" i="0" dirty="0"/>
                        <a:t>.01,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.3%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47%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55%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A6E7C5-D6E3-78EC-EA23-9322FFDAE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692113"/>
              </p:ext>
            </p:extLst>
          </p:nvPr>
        </p:nvGraphicFramePr>
        <p:xfrm>
          <a:off x="397872" y="4615496"/>
          <a:ext cx="11087496" cy="1917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832">
                  <a:extLst>
                    <a:ext uri="{9D8B030D-6E8A-4147-A177-3AD203B41FA5}">
                      <a16:colId xmlns:a16="http://schemas.microsoft.com/office/drawing/2014/main" val="146614545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3733810682"/>
                    </a:ext>
                  </a:extLst>
                </a:gridCol>
                <a:gridCol w="3695832">
                  <a:extLst>
                    <a:ext uri="{9D8B030D-6E8A-4147-A177-3AD203B41FA5}">
                      <a16:colId xmlns:a16="http://schemas.microsoft.com/office/drawing/2014/main" val="1233237376"/>
                    </a:ext>
                  </a:extLst>
                </a:gridCol>
              </a:tblGrid>
              <a:tr h="46222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Local Expansion</a:t>
                      </a:r>
                    </a:p>
                  </a:txBody>
                  <a:tcPr marL="124735" marR="124735" marT="62367" marB="6236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Female Faces</a:t>
                      </a:r>
                    </a:p>
                  </a:txBody>
                  <a:tcPr marL="124735" marR="124735" marT="62367" marB="6236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250636"/>
                  </a:ext>
                </a:extLst>
              </a:tr>
              <a:tr h="72284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Familiarity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i="1" dirty="0"/>
                        <a:t>b = </a:t>
                      </a:r>
                      <a:r>
                        <a:rPr lang="en-US" sz="2500" i="0" dirty="0"/>
                        <a:t>.02,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4%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/>
                        <a:t>b = .</a:t>
                      </a:r>
                      <a:r>
                        <a:rPr lang="en-US" sz="2500" i="0" dirty="0"/>
                        <a:t>03, </a:t>
                      </a:r>
                      <a:r>
                        <a:rPr lang="en-US" sz="2500" i="1" dirty="0"/>
                        <a:t>p</a:t>
                      </a:r>
                      <a:r>
                        <a:rPr lang="en-US" sz="2500" i="0" dirty="0"/>
                        <a:t> &gt; .05, </a:t>
                      </a:r>
                      <a:r>
                        <a:rPr lang="en-US" sz="2500" i="1" dirty="0"/>
                        <a:t>R</a:t>
                      </a:r>
                      <a:r>
                        <a:rPr lang="en-US" sz="2500" i="1" baseline="30000" dirty="0"/>
                        <a:t>2</a:t>
                      </a:r>
                      <a:r>
                        <a:rPr lang="en-US" sz="2500" dirty="0"/>
                        <a:t> = .6%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7753"/>
                  </a:ext>
                </a:extLst>
              </a:tr>
              <a:tr h="68897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Target Identity</a:t>
                      </a:r>
                    </a:p>
                  </a:txBody>
                  <a:tcPr marL="124735" marR="124735" marT="62367" marB="623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62%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i="1" dirty="0">
                          <a:highlight>
                            <a:srgbClr val="FFFF00"/>
                          </a:highlight>
                        </a:rPr>
                        <a:t>R</a:t>
                      </a:r>
                      <a:r>
                        <a:rPr lang="en-US" sz="2500" i="1" baseline="300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en-US" sz="2500" dirty="0">
                          <a:highlight>
                            <a:srgbClr val="FFFF00"/>
                          </a:highlight>
                        </a:rPr>
                        <a:t> = 88%</a:t>
                      </a:r>
                    </a:p>
                  </a:txBody>
                  <a:tcPr marL="124735" marR="124735" marT="62367" marB="62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269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469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3AB2-D194-7B3E-4703-25CC5CAE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3FCD5-9DA9-D4B7-AF96-425A0F909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Familiarity organizes within-person variability by decreasing the distance between different images of the same person</a:t>
            </a:r>
          </a:p>
          <a:p>
            <a:endParaRPr lang="en-US" dirty="0"/>
          </a:p>
          <a:p>
            <a:r>
              <a:rPr lang="en-US" dirty="0"/>
              <a:t>Familiarity may not organize within-person variability by increasing the distance between identities</a:t>
            </a:r>
          </a:p>
          <a:p>
            <a:pPr lvl="1"/>
            <a:r>
              <a:rPr lang="en-US" dirty="0"/>
              <a:t>Target identity as a predictor of distinctiveness in the face space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Facial identity can be represented in a 3-dimensional face space</a:t>
            </a:r>
          </a:p>
        </p:txBody>
      </p:sp>
    </p:spTree>
    <p:extLst>
      <p:ext uri="{BB962C8B-B14F-4D97-AF65-F5344CB8AC3E}">
        <p14:creationId xmlns:p14="http://schemas.microsoft.com/office/powerpoint/2010/main" val="249293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D7E9-CE6F-0A37-AEA5-4E442B3A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6EB1-D121-C208-FFA6-832EDEA94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approach to familiarity</a:t>
            </a:r>
          </a:p>
          <a:p>
            <a:pPr lvl="1"/>
            <a:r>
              <a:rPr lang="en-US" dirty="0"/>
              <a:t>Binary</a:t>
            </a:r>
          </a:p>
          <a:p>
            <a:pPr lvl="1"/>
            <a:r>
              <a:rPr lang="en-US" dirty="0"/>
              <a:t>Lack of cross design</a:t>
            </a:r>
          </a:p>
          <a:p>
            <a:pPr lvl="1"/>
            <a:r>
              <a:rPr lang="en-US" dirty="0"/>
              <a:t>Familiarity by fame vs. personal familiarity</a:t>
            </a:r>
          </a:p>
          <a:p>
            <a:r>
              <a:rPr lang="en-US" dirty="0"/>
              <a:t>Stimulus set</a:t>
            </a:r>
          </a:p>
          <a:p>
            <a:pPr lvl="1"/>
            <a:r>
              <a:rPr lang="en-US" dirty="0"/>
              <a:t>Limited number of identities</a:t>
            </a:r>
          </a:p>
          <a:p>
            <a:pPr lvl="1"/>
            <a:r>
              <a:rPr lang="en-US" dirty="0"/>
              <a:t>Celebrities as stimuli</a:t>
            </a:r>
          </a:p>
          <a:p>
            <a:r>
              <a:rPr lang="en-US" dirty="0"/>
              <a:t>Distance calculations</a:t>
            </a:r>
          </a:p>
          <a:p>
            <a:pPr lvl="1"/>
            <a:r>
              <a:rPr lang="en-US" dirty="0"/>
              <a:t>Euclidean vs Riemannian manifolds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3359F-AD41-7CDC-A65B-865C6D55DF28}"/>
              </a:ext>
            </a:extLst>
          </p:cNvPr>
          <p:cNvSpPr txBox="1"/>
          <p:nvPr/>
        </p:nvSpPr>
        <p:spPr>
          <a:xfrm>
            <a:off x="6206772" y="6492875"/>
            <a:ext cx="598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Burton, 2025; </a:t>
            </a:r>
            <a:r>
              <a:rPr lang="en-CA" dirty="0"/>
              <a:t>Natu &amp; O’Toole, 2011 ; </a:t>
            </a:r>
            <a:r>
              <a:rPr lang="en-US" dirty="0"/>
              <a:t>Townsend et al., 2024</a:t>
            </a:r>
          </a:p>
        </p:txBody>
      </p:sp>
    </p:spTree>
    <p:extLst>
      <p:ext uri="{BB962C8B-B14F-4D97-AF65-F5344CB8AC3E}">
        <p14:creationId xmlns:p14="http://schemas.microsoft.com/office/powerpoint/2010/main" val="45024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EF91-7BD4-B9F7-E9E2-9AB1EB6E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8" y="2321262"/>
            <a:ext cx="3178352" cy="1325563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4" name="Picture 3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EDD64BB0-E8B2-01E3-BDC1-2607E9D90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853" y="0"/>
            <a:ext cx="4578147" cy="6863789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27C4F4E-44D1-1BC3-CBE4-9608BE0BC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7" y="976179"/>
            <a:ext cx="18415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Visual Identity | University of Regina">
            <a:extLst>
              <a:ext uri="{FF2B5EF4-FFF2-40B4-BE49-F238E27FC236}">
                <a16:creationId xmlns:a16="http://schemas.microsoft.com/office/drawing/2014/main" id="{D9C364BA-7870-6710-1F87-C82D4BE25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83" y="3967075"/>
            <a:ext cx="2002971" cy="200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38456-C2C2-C2AE-78E2-6ED8EA590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1388" y="-1"/>
            <a:ext cx="3902465" cy="693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85793"/>
      </p:ext>
    </p:extLst>
  </p:cSld>
  <p:clrMapOvr>
    <a:masterClrMapping/>
  </p:clrMapOvr>
</p:sld>
</file>

<file path=ppt/theme/theme1.xml><?xml version="1.0" encoding="utf-8"?>
<a:theme xmlns:a="http://schemas.openxmlformats.org/drawingml/2006/main" name="PhD_Defense_Yaren_Koca">
  <a:themeElements>
    <a:clrScheme name="warm browns blues">
      <a:dk1>
        <a:srgbClr val="283044"/>
      </a:dk1>
      <a:lt1>
        <a:srgbClr val="EBF5EE"/>
      </a:lt1>
      <a:dk2>
        <a:srgbClr val="283044"/>
      </a:dk2>
      <a:lt2>
        <a:srgbClr val="EBF5EE"/>
      </a:lt2>
      <a:accent1>
        <a:srgbClr val="78A1BB"/>
      </a:accent1>
      <a:accent2>
        <a:srgbClr val="BFA89E"/>
      </a:accent2>
      <a:accent3>
        <a:srgbClr val="8B786D"/>
      </a:accent3>
      <a:accent4>
        <a:srgbClr val="BF1363"/>
      </a:accent4>
      <a:accent5>
        <a:srgbClr val="710E07"/>
      </a:accent5>
      <a:accent6>
        <a:srgbClr val="8B6120"/>
      </a:accent6>
      <a:hlink>
        <a:srgbClr val="3F8EFC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PhD_Defense_Yaren_Koca</Template>
  <TotalTime>263</TotalTime>
  <Words>658</Words>
  <Application>Microsoft Macintosh PowerPoint</Application>
  <PresentationFormat>Widescreen</PresentationFormat>
  <Paragraphs>149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Helvetica</vt:lpstr>
      <vt:lpstr>PhD_Defense_Yaren_Koca</vt:lpstr>
      <vt:lpstr>How do we organize facial identity in memory?</vt:lpstr>
      <vt:lpstr>PowerPoint Presentation</vt:lpstr>
      <vt:lpstr>How do we organize faces in memory?</vt:lpstr>
      <vt:lpstr>PowerPoint Presentation</vt:lpstr>
      <vt:lpstr>Similarity = Distance</vt:lpstr>
      <vt:lpstr>PowerPoint Presentation</vt:lpstr>
      <vt:lpstr>Familiarity</vt:lpstr>
      <vt:lpstr>How is familiarity represented in the face space?</vt:lpstr>
      <vt:lpstr>PowerPoint Presentation</vt:lpstr>
      <vt:lpstr>PowerPoint Presentation</vt:lpstr>
      <vt:lpstr>PowerPoint Presentation</vt:lpstr>
      <vt:lpstr>Multidimensional Scaling</vt:lpstr>
      <vt:lpstr>Within-person distances</vt:lpstr>
      <vt:lpstr>Are familiar faces more densely clustered? Yes!</vt:lpstr>
      <vt:lpstr>Are familiar faces more densely clustered? Yes!</vt:lpstr>
      <vt:lpstr>Between-people distances</vt:lpstr>
      <vt:lpstr>PowerPoint Presentation</vt:lpstr>
      <vt:lpstr>Are familiar faces further from others? Not really…</vt:lpstr>
      <vt:lpstr>Are familiar faces further from others? Not really…</vt:lpstr>
      <vt:lpstr>Summary</vt:lpstr>
      <vt:lpstr>Limitations &amp; future directions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Yaren Koca</dc:creator>
  <cp:lastModifiedBy>Yaren Koca</cp:lastModifiedBy>
  <cp:revision>4</cp:revision>
  <dcterms:created xsi:type="dcterms:W3CDTF">2026-05-29T16:44:40Z</dcterms:created>
  <dcterms:modified xsi:type="dcterms:W3CDTF">2026-05-29T22:37:52Z</dcterms:modified>
</cp:coreProperties>
</file>